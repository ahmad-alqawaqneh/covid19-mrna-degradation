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3" r:id="rId1"/>
  </p:sldMasterIdLst>
  <p:notesMasterIdLst>
    <p:notesMasterId r:id="rId27"/>
  </p:notesMasterIdLst>
  <p:sldIdLst>
    <p:sldId id="335" r:id="rId2"/>
    <p:sldId id="336" r:id="rId3"/>
    <p:sldId id="337" r:id="rId4"/>
    <p:sldId id="338" r:id="rId5"/>
    <p:sldId id="339" r:id="rId6"/>
    <p:sldId id="256" r:id="rId7"/>
    <p:sldId id="312" r:id="rId8"/>
    <p:sldId id="258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1" r:id="rId17"/>
    <p:sldId id="320" r:id="rId18"/>
    <p:sldId id="322" r:id="rId19"/>
    <p:sldId id="323" r:id="rId20"/>
    <p:sldId id="324" r:id="rId21"/>
    <p:sldId id="325" r:id="rId22"/>
    <p:sldId id="326" r:id="rId23"/>
    <p:sldId id="327" r:id="rId24"/>
    <p:sldId id="329" r:id="rId25"/>
    <p:sldId id="330" r:id="rId26"/>
  </p:sldIdLst>
  <p:sldSz cx="9144000" cy="5143500" type="screen16x9"/>
  <p:notesSz cx="6858000" cy="9144000"/>
  <p:embeddedFontLst>
    <p:embeddedFont>
      <p:font typeface="Amasis MT Pro Medium" panose="02040604050005020304" pitchFamily="18" charset="0"/>
      <p:regular r:id="rId28"/>
      <p:italic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Lato" panose="020F0502020204030203" pitchFamily="34" charset="0"/>
      <p:regular r:id="rId34"/>
      <p:bold r:id="rId35"/>
      <p:italic r:id="rId36"/>
      <p:boldItalic r:id="rId37"/>
    </p:embeddedFont>
    <p:embeddedFont>
      <p:font typeface="Lato Black" panose="020F0A02020204030203" pitchFamily="34" charset="0"/>
      <p:bold r:id="rId38"/>
      <p:boldItalic r:id="rId39"/>
    </p:embeddedFont>
    <p:embeddedFont>
      <p:font typeface="Lato Light" panose="020F0302020204030203" pitchFamily="34" charset="0"/>
      <p:regular r:id="rId40"/>
      <p:bold r:id="rId41"/>
      <p:italic r:id="rId42"/>
      <p:boldItalic r:id="rId43"/>
    </p:embeddedFont>
    <p:embeddedFont>
      <p:font typeface="Montserrat" panose="00000500000000000000" pitchFamily="2" charset="0"/>
      <p:regular r:id="rId44"/>
      <p:bold r:id="rId45"/>
      <p:italic r:id="rId46"/>
      <p:boldItalic r:id="rId47"/>
    </p:embeddedFont>
    <p:embeddedFont>
      <p:font typeface="Montserrat Medium" panose="00000600000000000000" pitchFamily="2" charset="0"/>
      <p:regular r:id="rId48"/>
      <p:bold r:id="rId49"/>
      <p:italic r:id="rId50"/>
      <p:boldItalic r:id="rId5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54">
          <p15:clr>
            <a:srgbClr val="9AA0A6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27E6477-C526-4CE5-AB84-CDAB395D5041}">
  <a:tblStyle styleId="{527E6477-C526-4CE5-AB84-CDAB395D504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16" y="78"/>
      </p:cViewPr>
      <p:guideLst>
        <p:guide pos="454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font" Target="fonts/font20.fntdata"/><Relationship Id="rId50" Type="http://schemas.openxmlformats.org/officeDocument/2006/relationships/font" Target="fonts/font23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font" Target="fonts/font21.fntdata"/><Relationship Id="rId8" Type="http://schemas.openxmlformats.org/officeDocument/2006/relationships/slide" Target="slides/slide7.xml"/><Relationship Id="rId51" Type="http://schemas.openxmlformats.org/officeDocument/2006/relationships/font" Target="fonts/font2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font" Target="fonts/font2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1144dd260e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1144dd260e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15b87658a5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15b87658a5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32718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1582efe8ed_1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11582efe8ed_1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1582efe8ed_1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11582efe8ed_1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143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151d0107a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151d0107a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3291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15b87658a5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15b87658a5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0069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15b87658a5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15b87658a5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06564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11582efe8ed_1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11582efe8ed_1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9483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151d0107a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151d0107a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23885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1151d0107ad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1151d0107ad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4921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15b87658a5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15b87658a5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68393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15b87658a5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15b87658a5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03909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15b87658a5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15b87658a5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71013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15b87658a5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15b87658a5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99417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15b87658a5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15b87658a5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85312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15b87658a5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15b87658a5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87801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15b87658a5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15b87658a5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30868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15b87658a5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15b87658a5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38584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15b87658a5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15b87658a5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22652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115b87658a5_0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115b87658a5_0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10378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5021525" y="1401600"/>
            <a:ext cx="3182700" cy="145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000">
                <a:latin typeface="Lato Black"/>
                <a:ea typeface="Lato Black"/>
                <a:cs typeface="Lato Black"/>
                <a:sym typeface="Lato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5021525" y="3026400"/>
            <a:ext cx="2979600" cy="715500"/>
          </a:xfrm>
          <a:prstGeom prst="rect">
            <a:avLst/>
          </a:prstGeom>
          <a:solidFill>
            <a:srgbClr val="95FFFF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 rot="10800000">
            <a:off x="723750" y="4678425"/>
            <a:ext cx="8477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15250" y="1809750"/>
            <a:ext cx="4531200" cy="146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000" b="0">
                <a:latin typeface="Lato Black"/>
                <a:ea typeface="Lato Black"/>
                <a:cs typeface="Lato Black"/>
                <a:sym typeface="Lato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1560750" y="3429800"/>
            <a:ext cx="2840100" cy="7164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7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2457025" y="692500"/>
            <a:ext cx="961200" cy="960900"/>
          </a:xfrm>
          <a:prstGeom prst="rect">
            <a:avLst/>
          </a:prstGeom>
          <a:solidFill>
            <a:schemeClr val="lt2"/>
          </a:solidFill>
          <a:effectLst>
            <a:outerShdw blurRad="57150" dist="19050" dir="540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4000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 b="1">
                <a:latin typeface="Lato"/>
                <a:ea typeface="Lato"/>
                <a:cs typeface="Lato"/>
                <a:sym typeface="La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 b="1">
                <a:latin typeface="Lato"/>
                <a:ea typeface="Lato"/>
                <a:cs typeface="Lato"/>
                <a:sym typeface="La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 b="1">
                <a:latin typeface="Lato"/>
                <a:ea typeface="Lato"/>
                <a:cs typeface="Lato"/>
                <a:sym typeface="La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 b="1">
                <a:latin typeface="Lato"/>
                <a:ea typeface="Lato"/>
                <a:cs typeface="Lato"/>
                <a:sym typeface="La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 b="1">
                <a:latin typeface="Lato"/>
                <a:ea typeface="Lato"/>
                <a:cs typeface="Lato"/>
                <a:sym typeface="La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 b="1">
                <a:latin typeface="Lato"/>
                <a:ea typeface="Lato"/>
                <a:cs typeface="Lato"/>
                <a:sym typeface="La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 b="1">
                <a:latin typeface="Lato"/>
                <a:ea typeface="Lato"/>
                <a:cs typeface="Lato"/>
                <a:sym typeface="La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Font typeface="Lato"/>
              <a:buNone/>
              <a:defRPr sz="2500" b="1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cxnSp>
        <p:nvCxnSpPr>
          <p:cNvPr id="16" name="Google Shape;16;p3"/>
          <p:cNvCxnSpPr/>
          <p:nvPr/>
        </p:nvCxnSpPr>
        <p:spPr>
          <a:xfrm rot="10800000">
            <a:off x="723750" y="4678425"/>
            <a:ext cx="8477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2281038" y="895025"/>
            <a:ext cx="4581900" cy="246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5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37" name="Google Shape;37;p8"/>
          <p:cNvCxnSpPr/>
          <p:nvPr/>
        </p:nvCxnSpPr>
        <p:spPr>
          <a:xfrm rot="10800000">
            <a:off x="723750" y="4678425"/>
            <a:ext cx="8477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3756000" y="1710959"/>
            <a:ext cx="3995700" cy="5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3756000" y="2452741"/>
            <a:ext cx="3995700" cy="97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41" name="Google Shape;41;p9"/>
          <p:cNvCxnSpPr/>
          <p:nvPr/>
        </p:nvCxnSpPr>
        <p:spPr>
          <a:xfrm rot="10800000">
            <a:off x="723750" y="4678425"/>
            <a:ext cx="8477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>
            <a:spLocks noGrp="1"/>
          </p:cNvSpPr>
          <p:nvPr>
            <p:ph type="title"/>
          </p:nvPr>
        </p:nvSpPr>
        <p:spPr>
          <a:xfrm>
            <a:off x="1123850" y="1376925"/>
            <a:ext cx="3138300" cy="87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61" name="Google Shape;161;p24"/>
          <p:cNvSpPr txBox="1">
            <a:spLocks noGrp="1"/>
          </p:cNvSpPr>
          <p:nvPr>
            <p:ph type="subTitle" idx="1"/>
          </p:nvPr>
        </p:nvSpPr>
        <p:spPr>
          <a:xfrm>
            <a:off x="1123950" y="2447763"/>
            <a:ext cx="3138300" cy="13188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7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cxnSp>
        <p:nvCxnSpPr>
          <p:cNvPr id="162" name="Google Shape;162;p24"/>
          <p:cNvCxnSpPr/>
          <p:nvPr/>
        </p:nvCxnSpPr>
        <p:spPr>
          <a:xfrm rot="10800000">
            <a:off x="723750" y="4678425"/>
            <a:ext cx="8477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6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33"/>
          <p:cNvCxnSpPr/>
          <p:nvPr/>
        </p:nvCxnSpPr>
        <p:spPr>
          <a:xfrm rot="10800000">
            <a:off x="723750" y="4678425"/>
            <a:ext cx="8477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6_1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4"/>
          <p:cNvPicPr preferRelativeResize="0"/>
          <p:nvPr/>
        </p:nvPicPr>
        <p:blipFill rotWithShape="1">
          <a:blip r:embed="rId2">
            <a:alphaModFix/>
          </a:blip>
          <a:srcRect l="1671" t="428" r="22702" b="24377"/>
          <a:stretch/>
        </p:blipFill>
        <p:spPr>
          <a:xfrm rot="10800000" flipH="1">
            <a:off x="0" y="0"/>
            <a:ext cx="3221171" cy="32026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00;p34"/>
          <p:cNvCxnSpPr/>
          <p:nvPr/>
        </p:nvCxnSpPr>
        <p:spPr>
          <a:xfrm rot="10800000">
            <a:off x="723750" y="4678425"/>
            <a:ext cx="8477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rgbClr val="08070D"/>
            </a:gs>
            <a:gs pos="100000">
              <a:srgbClr val="29155A"/>
            </a:gs>
          </a:gsLst>
          <a:lin ang="1890073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40000"/>
            <a:ext cx="7704000" cy="5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ato"/>
              <a:buNone/>
              <a:defRPr sz="30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ato"/>
              <a:buNone/>
              <a:defRPr sz="30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ato"/>
              <a:buNone/>
              <a:defRPr sz="30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ato"/>
              <a:buNone/>
              <a:defRPr sz="30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ato"/>
              <a:buNone/>
              <a:defRPr sz="30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ato"/>
              <a:buNone/>
              <a:defRPr sz="30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ato"/>
              <a:buNone/>
              <a:defRPr sz="30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ato"/>
              <a:buNone/>
              <a:defRPr sz="30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Lato"/>
              <a:buNone/>
              <a:defRPr sz="30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87100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Char char="●"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Char char="○"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Char char="■"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Char char="●"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Char char="○"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Char char="■"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Char char="●"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Char char="○"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Montserrat Medium"/>
              <a:buChar char="■"/>
              <a:defRPr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4" r:id="rId3"/>
    <p:sldLayoutId id="2147483655" r:id="rId4"/>
    <p:sldLayoutId id="2147483658" r:id="rId5"/>
    <p:sldLayoutId id="2147483670" r:id="rId6"/>
    <p:sldLayoutId id="2147483679" r:id="rId7"/>
    <p:sldLayoutId id="214748368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hyperlink" Target="https://covid23.streamlit.app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oup of soldiers running through a trench&#10;&#10;Description automatically generated">
            <a:extLst>
              <a:ext uri="{FF2B5EF4-FFF2-40B4-BE49-F238E27FC236}">
                <a16:creationId xmlns:a16="http://schemas.microsoft.com/office/drawing/2014/main" id="{3653E96A-DBB3-FE57-E88C-78BC4F48D4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096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wearing masks carrying objects&#10;&#10;Description automatically generated">
            <a:extLst>
              <a:ext uri="{FF2B5EF4-FFF2-40B4-BE49-F238E27FC236}">
                <a16:creationId xmlns:a16="http://schemas.microsoft.com/office/drawing/2014/main" id="{0DB11557-6548-B70A-0CB0-767AB81E5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097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wearing face masks&#10;&#10;Description automatically generated">
            <a:extLst>
              <a:ext uri="{FF2B5EF4-FFF2-40B4-BE49-F238E27FC236}">
                <a16:creationId xmlns:a16="http://schemas.microsoft.com/office/drawing/2014/main" id="{5BF597A6-6B2C-198B-612C-80F21D6B3B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245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in protective gear looking at a person in a car&#10;&#10;Description automatically generated">
            <a:extLst>
              <a:ext uri="{FF2B5EF4-FFF2-40B4-BE49-F238E27FC236}">
                <a16:creationId xmlns:a16="http://schemas.microsoft.com/office/drawing/2014/main" id="{59AB4F47-9056-4CB2-3B8E-C9274001B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64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praying a building&#10;&#10;Description automatically generated">
            <a:extLst>
              <a:ext uri="{FF2B5EF4-FFF2-40B4-BE49-F238E27FC236}">
                <a16:creationId xmlns:a16="http://schemas.microsoft.com/office/drawing/2014/main" id="{B9129052-F96E-06B8-E8BD-E7E538889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901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8"/>
          <p:cNvSpPr txBox="1">
            <a:spLocks noGrp="1"/>
          </p:cNvSpPr>
          <p:nvPr>
            <p:ph type="ctrTitle"/>
          </p:nvPr>
        </p:nvSpPr>
        <p:spPr>
          <a:xfrm>
            <a:off x="4327451" y="710911"/>
            <a:ext cx="3774558" cy="295724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l" fontAlgn="base"/>
            <a:r>
              <a:rPr lang="en-US" sz="6000" b="1" i="0" dirty="0">
                <a:solidFill>
                  <a:srgbClr val="FFFFFF"/>
                </a:solidFill>
                <a:effectLst/>
                <a:latin typeface="zeitung"/>
              </a:rPr>
              <a:t>COVID-19</a:t>
            </a:r>
            <a:r>
              <a:rPr lang="en-US" sz="3600" b="1" i="0" dirty="0">
                <a:solidFill>
                  <a:srgbClr val="FFFFFF"/>
                </a:solidFill>
                <a:effectLst/>
                <a:latin typeface="zeitung"/>
              </a:rPr>
              <a:t> mRNA Vaccine Degradation</a:t>
            </a:r>
          </a:p>
        </p:txBody>
      </p:sp>
      <p:sp>
        <p:nvSpPr>
          <p:cNvPr id="213" name="Google Shape;213;p38"/>
          <p:cNvSpPr txBox="1"/>
          <p:nvPr/>
        </p:nvSpPr>
        <p:spPr>
          <a:xfrm rot="5400000">
            <a:off x="8514275" y="1089675"/>
            <a:ext cx="338100" cy="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2023</a:t>
            </a:r>
            <a:endParaRPr sz="1000" dirty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grpSp>
        <p:nvGrpSpPr>
          <p:cNvPr id="214" name="Google Shape;214;p38"/>
          <p:cNvGrpSpPr/>
          <p:nvPr/>
        </p:nvGrpSpPr>
        <p:grpSpPr>
          <a:xfrm rot="5400000">
            <a:off x="8459352" y="525364"/>
            <a:ext cx="448016" cy="159289"/>
            <a:chOff x="4405045" y="960533"/>
            <a:chExt cx="680462" cy="241934"/>
          </a:xfrm>
        </p:grpSpPr>
        <p:grpSp>
          <p:nvGrpSpPr>
            <p:cNvPr id="215" name="Google Shape;215;p38"/>
            <p:cNvGrpSpPr/>
            <p:nvPr/>
          </p:nvGrpSpPr>
          <p:grpSpPr>
            <a:xfrm>
              <a:off x="4405045" y="960533"/>
              <a:ext cx="680462" cy="241934"/>
              <a:chOff x="4405045" y="960533"/>
              <a:chExt cx="680462" cy="241934"/>
            </a:xfrm>
          </p:grpSpPr>
          <p:sp>
            <p:nvSpPr>
              <p:cNvPr id="216" name="Google Shape;216;p38"/>
              <p:cNvSpPr/>
              <p:nvPr/>
            </p:nvSpPr>
            <p:spPr>
              <a:xfrm rot="2700000">
                <a:off x="4663796" y="997170"/>
                <a:ext cx="163342" cy="16885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8"/>
              <p:cNvSpPr/>
              <p:nvPr/>
            </p:nvSpPr>
            <p:spPr>
              <a:xfrm rot="-2700000">
                <a:off x="4436501" y="995607"/>
                <a:ext cx="151887" cy="151887"/>
              </a:xfrm>
              <a:prstGeom prst="arc">
                <a:avLst>
                  <a:gd name="adj1" fmla="val 17826268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18" name="Google Shape;218;p38"/>
              <p:cNvCxnSpPr>
                <a:stCxn id="217" idx="2"/>
                <a:endCxn id="216" idx="1"/>
              </p:cNvCxnSpPr>
              <p:nvPr/>
            </p:nvCxnSpPr>
            <p:spPr>
              <a:xfrm rot="-5400000" flipH="1">
                <a:off x="4564345" y="1019650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9" name="Google Shape;219;p38"/>
              <p:cNvSpPr/>
              <p:nvPr/>
            </p:nvSpPr>
            <p:spPr>
              <a:xfrm rot="-8100000" flipH="1">
                <a:off x="4436501" y="1019123"/>
                <a:ext cx="151887" cy="151887"/>
              </a:xfrm>
              <a:prstGeom prst="arc">
                <a:avLst>
                  <a:gd name="adj1" fmla="val 17776405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20" name="Google Shape;220;p38"/>
              <p:cNvCxnSpPr>
                <a:stCxn id="219" idx="2"/>
              </p:cNvCxnSpPr>
              <p:nvPr/>
            </p:nvCxnSpPr>
            <p:spPr>
              <a:xfrm rot="-5400000">
                <a:off x="4564345" y="1027266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1" name="Google Shape;221;p38"/>
              <p:cNvSpPr/>
              <p:nvPr/>
            </p:nvSpPr>
            <p:spPr>
              <a:xfrm rot="2700000" flipH="1">
                <a:off x="4902164" y="991990"/>
                <a:ext cx="151887" cy="151887"/>
              </a:xfrm>
              <a:prstGeom prst="arc">
                <a:avLst>
                  <a:gd name="adj1" fmla="val 17826268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22" name="Google Shape;222;p38"/>
              <p:cNvCxnSpPr>
                <a:stCxn id="221" idx="2"/>
              </p:cNvCxnSpPr>
              <p:nvPr/>
            </p:nvCxnSpPr>
            <p:spPr>
              <a:xfrm rot="5400000">
                <a:off x="4802907" y="1016033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3" name="Google Shape;223;p38"/>
              <p:cNvSpPr/>
              <p:nvPr/>
            </p:nvSpPr>
            <p:spPr>
              <a:xfrm rot="8100000">
                <a:off x="4902164" y="1015506"/>
                <a:ext cx="151887" cy="151887"/>
              </a:xfrm>
              <a:prstGeom prst="arc">
                <a:avLst>
                  <a:gd name="adj1" fmla="val 17776405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24" name="Google Shape;224;p38"/>
              <p:cNvCxnSpPr>
                <a:stCxn id="223" idx="2"/>
              </p:cNvCxnSpPr>
              <p:nvPr/>
            </p:nvCxnSpPr>
            <p:spPr>
              <a:xfrm rot="5400000" flipH="1">
                <a:off x="4802907" y="1023649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25" name="Google Shape;225;p38"/>
            <p:cNvCxnSpPr>
              <a:stCxn id="217" idx="2"/>
              <a:endCxn id="219" idx="2"/>
            </p:cNvCxnSpPr>
            <p:nvPr/>
          </p:nvCxnSpPr>
          <p:spPr>
            <a:xfrm rot="5400000">
              <a:off x="4500745" y="1083250"/>
              <a:ext cx="130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38"/>
            <p:cNvCxnSpPr/>
            <p:nvPr/>
          </p:nvCxnSpPr>
          <p:spPr>
            <a:xfrm flipH="1">
              <a:off x="4527184" y="999281"/>
              <a:ext cx="900" cy="1677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38"/>
            <p:cNvCxnSpPr>
              <a:stCxn id="221" idx="2"/>
              <a:endCxn id="223" idx="2"/>
            </p:cNvCxnSpPr>
            <p:nvPr/>
          </p:nvCxnSpPr>
          <p:spPr>
            <a:xfrm rot="5400000">
              <a:off x="4859007" y="1079633"/>
              <a:ext cx="130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8" name="Google Shape;228;p38"/>
            <p:cNvCxnSpPr/>
            <p:nvPr/>
          </p:nvCxnSpPr>
          <p:spPr>
            <a:xfrm>
              <a:off x="4962470" y="999281"/>
              <a:ext cx="900" cy="1677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9" name="Google Shape;229;p38"/>
            <p:cNvCxnSpPr>
              <a:stCxn id="216" idx="3"/>
              <a:endCxn id="216" idx="0"/>
            </p:cNvCxnSpPr>
            <p:nvPr/>
          </p:nvCxnSpPr>
          <p:spPr>
            <a:xfrm rot="5400000">
              <a:off x="4745467" y="1079799"/>
              <a:ext cx="117600" cy="18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0" name="Google Shape;230;p38"/>
            <p:cNvCxnSpPr/>
            <p:nvPr/>
          </p:nvCxnSpPr>
          <p:spPr>
            <a:xfrm flipH="1">
              <a:off x="4725475" y="1001074"/>
              <a:ext cx="900" cy="1623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1" name="Google Shape;231;p38"/>
            <p:cNvCxnSpPr/>
            <p:nvPr/>
          </p:nvCxnSpPr>
          <p:spPr>
            <a:xfrm flipH="1">
              <a:off x="4764450" y="1001074"/>
              <a:ext cx="900" cy="1623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2" name="Google Shape;232;p38"/>
            <p:cNvCxnSpPr>
              <a:stCxn id="216" idx="2"/>
              <a:endCxn id="216" idx="1"/>
            </p:cNvCxnSpPr>
            <p:nvPr/>
          </p:nvCxnSpPr>
          <p:spPr>
            <a:xfrm rot="5400000">
              <a:off x="4628017" y="1081749"/>
              <a:ext cx="117600" cy="18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234" name="Google Shape;234;p38"/>
          <p:cNvCxnSpPr/>
          <p:nvPr/>
        </p:nvCxnSpPr>
        <p:spPr>
          <a:xfrm rot="10800000">
            <a:off x="723750" y="4678425"/>
            <a:ext cx="84774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5"/>
          <p:cNvSpPr txBox="1">
            <a:spLocks noGrp="1"/>
          </p:cNvSpPr>
          <p:nvPr>
            <p:ph type="title"/>
          </p:nvPr>
        </p:nvSpPr>
        <p:spPr>
          <a:xfrm>
            <a:off x="2664219" y="214280"/>
            <a:ext cx="3704684" cy="689487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/>
              <a:t>Problem Statement</a:t>
            </a:r>
            <a:endParaRPr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3ED197-20A9-B4AA-8553-59694B51BEFD}"/>
              </a:ext>
            </a:extLst>
          </p:cNvPr>
          <p:cNvSpPr txBox="1"/>
          <p:nvPr/>
        </p:nvSpPr>
        <p:spPr>
          <a:xfrm>
            <a:off x="4940333" y="1399398"/>
            <a:ext cx="40706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Why do they use spike proteins?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4F4F17-5287-EC6E-A95C-2232AA902F74}"/>
              </a:ext>
            </a:extLst>
          </p:cNvPr>
          <p:cNvSpPr txBox="1"/>
          <p:nvPr/>
        </p:nvSpPr>
        <p:spPr>
          <a:xfrm>
            <a:off x="441101" y="1399398"/>
            <a:ext cx="23871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Amasis MT Pro Medium" panose="02040604050005020304" pitchFamily="18" charset="0"/>
              </a:rPr>
              <a:t>what is M-RNA?</a:t>
            </a:r>
          </a:p>
        </p:txBody>
      </p:sp>
      <p:pic>
        <p:nvPicPr>
          <p:cNvPr id="9" name="Picture 8" descr="A diagram of dna strand&#10;&#10;Description automatically generated">
            <a:extLst>
              <a:ext uri="{FF2B5EF4-FFF2-40B4-BE49-F238E27FC236}">
                <a16:creationId xmlns:a16="http://schemas.microsoft.com/office/drawing/2014/main" id="{86A4967C-20BD-E3B5-CD6C-066E4EB7CF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01" y="2072470"/>
            <a:ext cx="3762567" cy="2202695"/>
          </a:xfrm>
          <a:prstGeom prst="rect">
            <a:avLst/>
          </a:prstGeom>
        </p:spPr>
      </p:pic>
      <p:pic>
        <p:nvPicPr>
          <p:cNvPr id="11" name="Picture 10" descr="A diagram of a cell&#10;&#10;Description automatically generated">
            <a:extLst>
              <a:ext uri="{FF2B5EF4-FFF2-40B4-BE49-F238E27FC236}">
                <a16:creationId xmlns:a16="http://schemas.microsoft.com/office/drawing/2014/main" id="{0528016B-4F4F-159E-49B4-4DBAC10C6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0333" y="2072471"/>
            <a:ext cx="4171769" cy="220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1099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>
            <a:spLocks noGrp="1"/>
          </p:cNvSpPr>
          <p:nvPr>
            <p:ph type="title"/>
          </p:nvPr>
        </p:nvSpPr>
        <p:spPr>
          <a:xfrm>
            <a:off x="3559579" y="284928"/>
            <a:ext cx="4346009" cy="5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categorical features</a:t>
            </a:r>
            <a:endParaRPr dirty="0"/>
          </a:p>
        </p:txBody>
      </p:sp>
      <p:pic>
        <p:nvPicPr>
          <p:cNvPr id="268" name="Google Shape;268;p40"/>
          <p:cNvPicPr preferRelativeResize="0"/>
          <p:nvPr/>
        </p:nvPicPr>
        <p:blipFill rotWithShape="1">
          <a:blip r:embed="rId3">
            <a:alphaModFix/>
          </a:blip>
          <a:srcRect t="3678" r="38631" b="9568"/>
          <a:stretch/>
        </p:blipFill>
        <p:spPr>
          <a:xfrm>
            <a:off x="0" y="0"/>
            <a:ext cx="363854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0"/>
          <p:cNvSpPr txBox="1"/>
          <p:nvPr/>
        </p:nvSpPr>
        <p:spPr>
          <a:xfrm rot="5400000">
            <a:off x="8514275" y="1089675"/>
            <a:ext cx="338100" cy="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2023</a:t>
            </a:r>
            <a:endParaRPr sz="1000" dirty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grpSp>
        <p:nvGrpSpPr>
          <p:cNvPr id="270" name="Google Shape;270;p40"/>
          <p:cNvGrpSpPr/>
          <p:nvPr/>
        </p:nvGrpSpPr>
        <p:grpSpPr>
          <a:xfrm rot="5400000">
            <a:off x="8459352" y="525364"/>
            <a:ext cx="448016" cy="159289"/>
            <a:chOff x="4405045" y="960533"/>
            <a:chExt cx="680462" cy="241934"/>
          </a:xfrm>
        </p:grpSpPr>
        <p:grpSp>
          <p:nvGrpSpPr>
            <p:cNvPr id="271" name="Google Shape;271;p40"/>
            <p:cNvGrpSpPr/>
            <p:nvPr/>
          </p:nvGrpSpPr>
          <p:grpSpPr>
            <a:xfrm>
              <a:off x="4405045" y="960533"/>
              <a:ext cx="680462" cy="241934"/>
              <a:chOff x="4405045" y="960533"/>
              <a:chExt cx="680462" cy="241934"/>
            </a:xfrm>
          </p:grpSpPr>
          <p:sp>
            <p:nvSpPr>
              <p:cNvPr id="272" name="Google Shape;272;p40"/>
              <p:cNvSpPr/>
              <p:nvPr/>
            </p:nvSpPr>
            <p:spPr>
              <a:xfrm rot="2700000">
                <a:off x="4663796" y="997170"/>
                <a:ext cx="163342" cy="16885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40"/>
              <p:cNvSpPr/>
              <p:nvPr/>
            </p:nvSpPr>
            <p:spPr>
              <a:xfrm rot="-2700000">
                <a:off x="4436501" y="995607"/>
                <a:ext cx="151887" cy="151887"/>
              </a:xfrm>
              <a:prstGeom prst="arc">
                <a:avLst>
                  <a:gd name="adj1" fmla="val 17826268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74" name="Google Shape;274;p40"/>
              <p:cNvCxnSpPr>
                <a:stCxn id="273" idx="2"/>
                <a:endCxn id="272" idx="1"/>
              </p:cNvCxnSpPr>
              <p:nvPr/>
            </p:nvCxnSpPr>
            <p:spPr>
              <a:xfrm rot="-5400000" flipH="1">
                <a:off x="4564345" y="1019650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75" name="Google Shape;275;p40"/>
              <p:cNvSpPr/>
              <p:nvPr/>
            </p:nvSpPr>
            <p:spPr>
              <a:xfrm rot="-8100000" flipH="1">
                <a:off x="4436501" y="1019123"/>
                <a:ext cx="151887" cy="151887"/>
              </a:xfrm>
              <a:prstGeom prst="arc">
                <a:avLst>
                  <a:gd name="adj1" fmla="val 17776405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76" name="Google Shape;276;p40"/>
              <p:cNvCxnSpPr>
                <a:stCxn id="275" idx="2"/>
              </p:cNvCxnSpPr>
              <p:nvPr/>
            </p:nvCxnSpPr>
            <p:spPr>
              <a:xfrm rot="-5400000">
                <a:off x="4564345" y="1027266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77" name="Google Shape;277;p40"/>
              <p:cNvSpPr/>
              <p:nvPr/>
            </p:nvSpPr>
            <p:spPr>
              <a:xfrm rot="2700000" flipH="1">
                <a:off x="4902164" y="991990"/>
                <a:ext cx="151887" cy="151887"/>
              </a:xfrm>
              <a:prstGeom prst="arc">
                <a:avLst>
                  <a:gd name="adj1" fmla="val 17826268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78" name="Google Shape;278;p40"/>
              <p:cNvCxnSpPr>
                <a:stCxn id="277" idx="2"/>
              </p:cNvCxnSpPr>
              <p:nvPr/>
            </p:nvCxnSpPr>
            <p:spPr>
              <a:xfrm rot="5400000">
                <a:off x="4802907" y="1016033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79" name="Google Shape;279;p40"/>
              <p:cNvSpPr/>
              <p:nvPr/>
            </p:nvSpPr>
            <p:spPr>
              <a:xfrm rot="8100000">
                <a:off x="4902164" y="1015506"/>
                <a:ext cx="151887" cy="151887"/>
              </a:xfrm>
              <a:prstGeom prst="arc">
                <a:avLst>
                  <a:gd name="adj1" fmla="val 17776405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80" name="Google Shape;280;p40"/>
              <p:cNvCxnSpPr>
                <a:stCxn id="279" idx="2"/>
              </p:cNvCxnSpPr>
              <p:nvPr/>
            </p:nvCxnSpPr>
            <p:spPr>
              <a:xfrm rot="5400000" flipH="1">
                <a:off x="4802907" y="1023649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81" name="Google Shape;281;p40"/>
            <p:cNvCxnSpPr>
              <a:stCxn id="273" idx="2"/>
              <a:endCxn id="275" idx="2"/>
            </p:cNvCxnSpPr>
            <p:nvPr/>
          </p:nvCxnSpPr>
          <p:spPr>
            <a:xfrm rot="5400000">
              <a:off x="4500745" y="1083250"/>
              <a:ext cx="130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2" name="Google Shape;282;p40"/>
            <p:cNvCxnSpPr/>
            <p:nvPr/>
          </p:nvCxnSpPr>
          <p:spPr>
            <a:xfrm flipH="1">
              <a:off x="4527184" y="999281"/>
              <a:ext cx="900" cy="1677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3" name="Google Shape;283;p40"/>
            <p:cNvCxnSpPr>
              <a:stCxn id="277" idx="2"/>
              <a:endCxn id="279" idx="2"/>
            </p:cNvCxnSpPr>
            <p:nvPr/>
          </p:nvCxnSpPr>
          <p:spPr>
            <a:xfrm rot="5400000">
              <a:off x="4859007" y="1079633"/>
              <a:ext cx="130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4" name="Google Shape;284;p40"/>
            <p:cNvCxnSpPr/>
            <p:nvPr/>
          </p:nvCxnSpPr>
          <p:spPr>
            <a:xfrm>
              <a:off x="4962470" y="999281"/>
              <a:ext cx="900" cy="1677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5" name="Google Shape;285;p40"/>
            <p:cNvCxnSpPr>
              <a:stCxn id="272" idx="3"/>
              <a:endCxn id="272" idx="0"/>
            </p:cNvCxnSpPr>
            <p:nvPr/>
          </p:nvCxnSpPr>
          <p:spPr>
            <a:xfrm rot="5400000">
              <a:off x="4745467" y="1079799"/>
              <a:ext cx="117600" cy="18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6" name="Google Shape;286;p40"/>
            <p:cNvCxnSpPr/>
            <p:nvPr/>
          </p:nvCxnSpPr>
          <p:spPr>
            <a:xfrm flipH="1">
              <a:off x="4725475" y="1001074"/>
              <a:ext cx="900" cy="1623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" name="Google Shape;287;p40"/>
            <p:cNvCxnSpPr/>
            <p:nvPr/>
          </p:nvCxnSpPr>
          <p:spPr>
            <a:xfrm flipH="1">
              <a:off x="4764450" y="1001074"/>
              <a:ext cx="900" cy="1623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8" name="Google Shape;288;p40"/>
            <p:cNvCxnSpPr>
              <a:stCxn id="272" idx="2"/>
              <a:endCxn id="272" idx="1"/>
            </p:cNvCxnSpPr>
            <p:nvPr/>
          </p:nvCxnSpPr>
          <p:spPr>
            <a:xfrm rot="5400000">
              <a:off x="4628017" y="1081749"/>
              <a:ext cx="117600" cy="18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16E94B4C-A133-615F-6129-D365AE41B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6417" y="824928"/>
            <a:ext cx="5441163" cy="979800"/>
          </a:xfrm>
        </p:spPr>
        <p:txBody>
          <a:bodyPr/>
          <a:lstStyle/>
          <a:p>
            <a:r>
              <a:rPr lang="en-US" dirty="0"/>
              <a:t>we have 33 categorical features some of these features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CB1CA5-0C61-CF63-0B88-6C3D7A7EC2B3}"/>
              </a:ext>
            </a:extLst>
          </p:cNvPr>
          <p:cNvSpPr txBox="1"/>
          <p:nvPr/>
        </p:nvSpPr>
        <p:spPr>
          <a:xfrm>
            <a:off x="2883671" y="1625080"/>
            <a:ext cx="1341508" cy="1893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1-sequence:         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A    47922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G    34975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C    24678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U    22985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9B2C1-E204-63A5-4766-A00C9CE06A9E}"/>
              </a:ext>
            </a:extLst>
          </p:cNvPr>
          <p:cNvSpPr txBox="1"/>
          <p:nvPr/>
        </p:nvSpPr>
        <p:spPr>
          <a:xfrm>
            <a:off x="4300463" y="1668951"/>
            <a:ext cx="1341508" cy="152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2- structure: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.    66648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(    31956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)    31956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5FDE1A-0925-8C8A-4F7C-FEDFE4DDA94E}"/>
              </a:ext>
            </a:extLst>
          </p:cNvPr>
          <p:cNvSpPr txBox="1"/>
          <p:nvPr/>
        </p:nvSpPr>
        <p:spPr>
          <a:xfrm>
            <a:off x="5716343" y="1661125"/>
            <a:ext cx="2518282" cy="3001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3-predicted_loop_type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S    63912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E    28225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H    15240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I     9729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X     6372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M     4651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B     2431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>
            <a:spLocks noGrp="1"/>
          </p:cNvSpPr>
          <p:nvPr>
            <p:ph type="title"/>
          </p:nvPr>
        </p:nvSpPr>
        <p:spPr>
          <a:xfrm>
            <a:off x="3559579" y="284928"/>
            <a:ext cx="4691286" cy="5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Explain of Categorical </a:t>
            </a:r>
            <a:r>
              <a:rPr lang="en-US" sz="2400" dirty="0" err="1"/>
              <a:t>fearures</a:t>
            </a:r>
            <a:endParaRPr sz="2400" dirty="0"/>
          </a:p>
        </p:txBody>
      </p:sp>
      <p:pic>
        <p:nvPicPr>
          <p:cNvPr id="268" name="Google Shape;268;p40"/>
          <p:cNvPicPr preferRelativeResize="0"/>
          <p:nvPr/>
        </p:nvPicPr>
        <p:blipFill rotWithShape="1">
          <a:blip r:embed="rId3">
            <a:alphaModFix/>
          </a:blip>
          <a:srcRect t="3678" r="38631" b="9568"/>
          <a:stretch/>
        </p:blipFill>
        <p:spPr>
          <a:xfrm>
            <a:off x="0" y="0"/>
            <a:ext cx="363854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0"/>
          <p:cNvSpPr txBox="1"/>
          <p:nvPr/>
        </p:nvSpPr>
        <p:spPr>
          <a:xfrm rot="5400000">
            <a:off x="8514275" y="1089675"/>
            <a:ext cx="338100" cy="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2023</a:t>
            </a:r>
            <a:endParaRPr sz="1000" dirty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grpSp>
        <p:nvGrpSpPr>
          <p:cNvPr id="270" name="Google Shape;270;p40"/>
          <p:cNvGrpSpPr/>
          <p:nvPr/>
        </p:nvGrpSpPr>
        <p:grpSpPr>
          <a:xfrm rot="5400000">
            <a:off x="8459352" y="525364"/>
            <a:ext cx="448016" cy="159289"/>
            <a:chOff x="4405045" y="960533"/>
            <a:chExt cx="680462" cy="241934"/>
          </a:xfrm>
        </p:grpSpPr>
        <p:grpSp>
          <p:nvGrpSpPr>
            <p:cNvPr id="271" name="Google Shape;271;p40"/>
            <p:cNvGrpSpPr/>
            <p:nvPr/>
          </p:nvGrpSpPr>
          <p:grpSpPr>
            <a:xfrm>
              <a:off x="4405045" y="960533"/>
              <a:ext cx="680462" cy="241934"/>
              <a:chOff x="4405045" y="960533"/>
              <a:chExt cx="680462" cy="241934"/>
            </a:xfrm>
          </p:grpSpPr>
          <p:sp>
            <p:nvSpPr>
              <p:cNvPr id="272" name="Google Shape;272;p40"/>
              <p:cNvSpPr/>
              <p:nvPr/>
            </p:nvSpPr>
            <p:spPr>
              <a:xfrm rot="2700000">
                <a:off x="4663796" y="997170"/>
                <a:ext cx="163342" cy="16885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40"/>
              <p:cNvSpPr/>
              <p:nvPr/>
            </p:nvSpPr>
            <p:spPr>
              <a:xfrm rot="-2700000">
                <a:off x="4436501" y="995607"/>
                <a:ext cx="151887" cy="151887"/>
              </a:xfrm>
              <a:prstGeom prst="arc">
                <a:avLst>
                  <a:gd name="adj1" fmla="val 17826268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74" name="Google Shape;274;p40"/>
              <p:cNvCxnSpPr>
                <a:stCxn id="273" idx="2"/>
                <a:endCxn id="272" idx="1"/>
              </p:cNvCxnSpPr>
              <p:nvPr/>
            </p:nvCxnSpPr>
            <p:spPr>
              <a:xfrm rot="-5400000" flipH="1">
                <a:off x="4564345" y="1019650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75" name="Google Shape;275;p40"/>
              <p:cNvSpPr/>
              <p:nvPr/>
            </p:nvSpPr>
            <p:spPr>
              <a:xfrm rot="-8100000" flipH="1">
                <a:off x="4436501" y="1019123"/>
                <a:ext cx="151887" cy="151887"/>
              </a:xfrm>
              <a:prstGeom prst="arc">
                <a:avLst>
                  <a:gd name="adj1" fmla="val 17776405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76" name="Google Shape;276;p40"/>
              <p:cNvCxnSpPr>
                <a:stCxn id="275" idx="2"/>
              </p:cNvCxnSpPr>
              <p:nvPr/>
            </p:nvCxnSpPr>
            <p:spPr>
              <a:xfrm rot="-5400000">
                <a:off x="4564345" y="1027266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77" name="Google Shape;277;p40"/>
              <p:cNvSpPr/>
              <p:nvPr/>
            </p:nvSpPr>
            <p:spPr>
              <a:xfrm rot="2700000" flipH="1">
                <a:off x="4902164" y="991990"/>
                <a:ext cx="151887" cy="151887"/>
              </a:xfrm>
              <a:prstGeom prst="arc">
                <a:avLst>
                  <a:gd name="adj1" fmla="val 17826268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78" name="Google Shape;278;p40"/>
              <p:cNvCxnSpPr>
                <a:stCxn id="277" idx="2"/>
              </p:cNvCxnSpPr>
              <p:nvPr/>
            </p:nvCxnSpPr>
            <p:spPr>
              <a:xfrm rot="5400000">
                <a:off x="4802907" y="1016033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79" name="Google Shape;279;p40"/>
              <p:cNvSpPr/>
              <p:nvPr/>
            </p:nvSpPr>
            <p:spPr>
              <a:xfrm rot="8100000">
                <a:off x="4902164" y="1015506"/>
                <a:ext cx="151887" cy="151887"/>
              </a:xfrm>
              <a:prstGeom prst="arc">
                <a:avLst>
                  <a:gd name="adj1" fmla="val 17776405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80" name="Google Shape;280;p40"/>
              <p:cNvCxnSpPr>
                <a:stCxn id="279" idx="2"/>
              </p:cNvCxnSpPr>
              <p:nvPr/>
            </p:nvCxnSpPr>
            <p:spPr>
              <a:xfrm rot="5400000" flipH="1">
                <a:off x="4802907" y="1023649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81" name="Google Shape;281;p40"/>
            <p:cNvCxnSpPr>
              <a:stCxn id="273" idx="2"/>
              <a:endCxn id="275" idx="2"/>
            </p:cNvCxnSpPr>
            <p:nvPr/>
          </p:nvCxnSpPr>
          <p:spPr>
            <a:xfrm rot="5400000">
              <a:off x="4500745" y="1083250"/>
              <a:ext cx="130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2" name="Google Shape;282;p40"/>
            <p:cNvCxnSpPr/>
            <p:nvPr/>
          </p:nvCxnSpPr>
          <p:spPr>
            <a:xfrm flipH="1">
              <a:off x="4527184" y="999281"/>
              <a:ext cx="900" cy="1677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3" name="Google Shape;283;p40"/>
            <p:cNvCxnSpPr>
              <a:stCxn id="277" idx="2"/>
              <a:endCxn id="279" idx="2"/>
            </p:cNvCxnSpPr>
            <p:nvPr/>
          </p:nvCxnSpPr>
          <p:spPr>
            <a:xfrm rot="5400000">
              <a:off x="4859007" y="1079633"/>
              <a:ext cx="130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4" name="Google Shape;284;p40"/>
            <p:cNvCxnSpPr/>
            <p:nvPr/>
          </p:nvCxnSpPr>
          <p:spPr>
            <a:xfrm>
              <a:off x="4962470" y="999281"/>
              <a:ext cx="900" cy="1677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5" name="Google Shape;285;p40"/>
            <p:cNvCxnSpPr>
              <a:stCxn id="272" idx="3"/>
              <a:endCxn id="272" idx="0"/>
            </p:cNvCxnSpPr>
            <p:nvPr/>
          </p:nvCxnSpPr>
          <p:spPr>
            <a:xfrm rot="5400000">
              <a:off x="4745467" y="1079799"/>
              <a:ext cx="117600" cy="18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6" name="Google Shape;286;p40"/>
            <p:cNvCxnSpPr/>
            <p:nvPr/>
          </p:nvCxnSpPr>
          <p:spPr>
            <a:xfrm flipH="1">
              <a:off x="4725475" y="1001074"/>
              <a:ext cx="900" cy="1623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7" name="Google Shape;287;p40"/>
            <p:cNvCxnSpPr/>
            <p:nvPr/>
          </p:nvCxnSpPr>
          <p:spPr>
            <a:xfrm flipH="1">
              <a:off x="4764450" y="1001074"/>
              <a:ext cx="900" cy="1623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8" name="Google Shape;288;p40"/>
            <p:cNvCxnSpPr>
              <a:stCxn id="272" idx="2"/>
              <a:endCxn id="272" idx="1"/>
            </p:cNvCxnSpPr>
            <p:nvPr/>
          </p:nvCxnSpPr>
          <p:spPr>
            <a:xfrm rot="5400000">
              <a:off x="4628017" y="1081749"/>
              <a:ext cx="117600" cy="18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16E94B4C-A133-615F-6129-D365AE41B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6417" y="824928"/>
            <a:ext cx="5441163" cy="979800"/>
          </a:xfrm>
        </p:spPr>
        <p:txBody>
          <a:bodyPr/>
          <a:lstStyle/>
          <a:p>
            <a:r>
              <a:rPr lang="en-US" dirty="0"/>
              <a:t>we have 33 categorical features some of these features 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CB1CA5-0C61-CF63-0B88-6C3D7A7EC2B3}"/>
              </a:ext>
            </a:extLst>
          </p:cNvPr>
          <p:cNvSpPr txBox="1"/>
          <p:nvPr/>
        </p:nvSpPr>
        <p:spPr>
          <a:xfrm>
            <a:off x="2725751" y="1804728"/>
            <a:ext cx="1571812" cy="1893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1-sequence 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A: adenine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C: cytosine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G: guanine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U: uracil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E9B2C1-E204-63A5-4766-A00C9CE06A9E}"/>
              </a:ext>
            </a:extLst>
          </p:cNvPr>
          <p:cNvSpPr txBox="1"/>
          <p:nvPr/>
        </p:nvSpPr>
        <p:spPr>
          <a:xfrm>
            <a:off x="4300870" y="1804728"/>
            <a:ext cx="2227521" cy="152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2-structure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(  bases are paired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)  bases are unpaired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.   base is without pair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5FDE1A-0925-8C8A-4F7C-FEDFE4DDA94E}"/>
              </a:ext>
            </a:extLst>
          </p:cNvPr>
          <p:cNvSpPr txBox="1"/>
          <p:nvPr/>
        </p:nvSpPr>
        <p:spPr>
          <a:xfrm>
            <a:off x="6528390" y="1655097"/>
            <a:ext cx="2518282" cy="3001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3-predicted_loop_type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S: paired “Stem”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M: Multiloop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I: Internal loop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B: Bulge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H: Hairpin loop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E: dangling End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bg1"/>
                </a:solidFill>
              </a:rPr>
              <a:t>X: eXternal loop</a:t>
            </a:r>
          </a:p>
        </p:txBody>
      </p:sp>
    </p:spTree>
    <p:extLst>
      <p:ext uri="{BB962C8B-B14F-4D97-AF65-F5344CB8AC3E}">
        <p14:creationId xmlns:p14="http://schemas.microsoft.com/office/powerpoint/2010/main" val="2983186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3"/>
          <p:cNvPicPr preferRelativeResize="0"/>
          <p:nvPr/>
        </p:nvPicPr>
        <p:blipFill rotWithShape="1">
          <a:blip r:embed="rId3">
            <a:alphaModFix/>
          </a:blip>
          <a:srcRect l="11611" t="6638" r="9827" b="14800"/>
          <a:stretch/>
        </p:blipFill>
        <p:spPr>
          <a:xfrm rot="10800000">
            <a:off x="4000500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3"/>
          <p:cNvSpPr txBox="1"/>
          <p:nvPr/>
        </p:nvSpPr>
        <p:spPr>
          <a:xfrm rot="5400000">
            <a:off x="8514275" y="1089675"/>
            <a:ext cx="338100" cy="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2023</a:t>
            </a:r>
            <a:endParaRPr sz="1000" dirty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grpSp>
        <p:nvGrpSpPr>
          <p:cNvPr id="326" name="Google Shape;326;p43"/>
          <p:cNvGrpSpPr/>
          <p:nvPr/>
        </p:nvGrpSpPr>
        <p:grpSpPr>
          <a:xfrm rot="5400000">
            <a:off x="8459352" y="525364"/>
            <a:ext cx="448016" cy="159289"/>
            <a:chOff x="4405045" y="960533"/>
            <a:chExt cx="680462" cy="241934"/>
          </a:xfrm>
        </p:grpSpPr>
        <p:grpSp>
          <p:nvGrpSpPr>
            <p:cNvPr id="327" name="Google Shape;327;p43"/>
            <p:cNvGrpSpPr/>
            <p:nvPr/>
          </p:nvGrpSpPr>
          <p:grpSpPr>
            <a:xfrm>
              <a:off x="4405045" y="960533"/>
              <a:ext cx="680462" cy="241934"/>
              <a:chOff x="4405045" y="960533"/>
              <a:chExt cx="680462" cy="241934"/>
            </a:xfrm>
          </p:grpSpPr>
          <p:sp>
            <p:nvSpPr>
              <p:cNvPr id="328" name="Google Shape;328;p43"/>
              <p:cNvSpPr/>
              <p:nvPr/>
            </p:nvSpPr>
            <p:spPr>
              <a:xfrm rot="2700000">
                <a:off x="4663796" y="997170"/>
                <a:ext cx="163342" cy="16885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43"/>
              <p:cNvSpPr/>
              <p:nvPr/>
            </p:nvSpPr>
            <p:spPr>
              <a:xfrm rot="-2700000">
                <a:off x="4436501" y="995607"/>
                <a:ext cx="151887" cy="151887"/>
              </a:xfrm>
              <a:prstGeom prst="arc">
                <a:avLst>
                  <a:gd name="adj1" fmla="val 17826268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30" name="Google Shape;330;p43"/>
              <p:cNvCxnSpPr>
                <a:stCxn id="329" idx="2"/>
                <a:endCxn id="328" idx="1"/>
              </p:cNvCxnSpPr>
              <p:nvPr/>
            </p:nvCxnSpPr>
            <p:spPr>
              <a:xfrm rot="-5400000" flipH="1">
                <a:off x="4564345" y="1019650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1" name="Google Shape;331;p43"/>
              <p:cNvSpPr/>
              <p:nvPr/>
            </p:nvSpPr>
            <p:spPr>
              <a:xfrm rot="-8100000" flipH="1">
                <a:off x="4436501" y="1019123"/>
                <a:ext cx="151887" cy="151887"/>
              </a:xfrm>
              <a:prstGeom prst="arc">
                <a:avLst>
                  <a:gd name="adj1" fmla="val 17776405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32" name="Google Shape;332;p43"/>
              <p:cNvCxnSpPr>
                <a:stCxn id="331" idx="2"/>
              </p:cNvCxnSpPr>
              <p:nvPr/>
            </p:nvCxnSpPr>
            <p:spPr>
              <a:xfrm rot="-5400000">
                <a:off x="4564345" y="1027266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3" name="Google Shape;333;p43"/>
              <p:cNvSpPr/>
              <p:nvPr/>
            </p:nvSpPr>
            <p:spPr>
              <a:xfrm rot="2700000" flipH="1">
                <a:off x="4902164" y="991990"/>
                <a:ext cx="151887" cy="151887"/>
              </a:xfrm>
              <a:prstGeom prst="arc">
                <a:avLst>
                  <a:gd name="adj1" fmla="val 17826268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34" name="Google Shape;334;p43"/>
              <p:cNvCxnSpPr>
                <a:stCxn id="333" idx="2"/>
              </p:cNvCxnSpPr>
              <p:nvPr/>
            </p:nvCxnSpPr>
            <p:spPr>
              <a:xfrm rot="5400000">
                <a:off x="4802907" y="1016033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5" name="Google Shape;335;p43"/>
              <p:cNvSpPr/>
              <p:nvPr/>
            </p:nvSpPr>
            <p:spPr>
              <a:xfrm rot="8100000">
                <a:off x="4902164" y="1015506"/>
                <a:ext cx="151887" cy="151887"/>
              </a:xfrm>
              <a:prstGeom prst="arc">
                <a:avLst>
                  <a:gd name="adj1" fmla="val 17776405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36" name="Google Shape;336;p43"/>
              <p:cNvCxnSpPr>
                <a:stCxn id="335" idx="2"/>
              </p:cNvCxnSpPr>
              <p:nvPr/>
            </p:nvCxnSpPr>
            <p:spPr>
              <a:xfrm rot="5400000" flipH="1">
                <a:off x="4802907" y="1023649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37" name="Google Shape;337;p43"/>
            <p:cNvCxnSpPr>
              <a:stCxn id="329" idx="2"/>
              <a:endCxn id="331" idx="2"/>
            </p:cNvCxnSpPr>
            <p:nvPr/>
          </p:nvCxnSpPr>
          <p:spPr>
            <a:xfrm rot="5400000">
              <a:off x="4500745" y="1083250"/>
              <a:ext cx="130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8" name="Google Shape;338;p43"/>
            <p:cNvCxnSpPr/>
            <p:nvPr/>
          </p:nvCxnSpPr>
          <p:spPr>
            <a:xfrm flipH="1">
              <a:off x="4527184" y="999281"/>
              <a:ext cx="900" cy="1677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" name="Google Shape;339;p43"/>
            <p:cNvCxnSpPr>
              <a:stCxn id="333" idx="2"/>
              <a:endCxn id="335" idx="2"/>
            </p:cNvCxnSpPr>
            <p:nvPr/>
          </p:nvCxnSpPr>
          <p:spPr>
            <a:xfrm rot="5400000">
              <a:off x="4859007" y="1079633"/>
              <a:ext cx="130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0" name="Google Shape;340;p43"/>
            <p:cNvCxnSpPr/>
            <p:nvPr/>
          </p:nvCxnSpPr>
          <p:spPr>
            <a:xfrm>
              <a:off x="4962470" y="999281"/>
              <a:ext cx="900" cy="1677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1" name="Google Shape;341;p43"/>
            <p:cNvCxnSpPr>
              <a:stCxn id="328" idx="3"/>
              <a:endCxn id="328" idx="0"/>
            </p:cNvCxnSpPr>
            <p:nvPr/>
          </p:nvCxnSpPr>
          <p:spPr>
            <a:xfrm rot="5400000">
              <a:off x="4745467" y="1079799"/>
              <a:ext cx="117600" cy="18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2" name="Google Shape;342;p43"/>
            <p:cNvCxnSpPr/>
            <p:nvPr/>
          </p:nvCxnSpPr>
          <p:spPr>
            <a:xfrm flipH="1">
              <a:off x="4725475" y="1001074"/>
              <a:ext cx="900" cy="1623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3" name="Google Shape;343;p43"/>
            <p:cNvCxnSpPr/>
            <p:nvPr/>
          </p:nvCxnSpPr>
          <p:spPr>
            <a:xfrm flipH="1">
              <a:off x="4764450" y="1001074"/>
              <a:ext cx="900" cy="1623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" name="Google Shape;344;p43"/>
            <p:cNvCxnSpPr>
              <a:stCxn id="328" idx="2"/>
              <a:endCxn id="328" idx="1"/>
            </p:cNvCxnSpPr>
            <p:nvPr/>
          </p:nvCxnSpPr>
          <p:spPr>
            <a:xfrm rot="5400000">
              <a:off x="4628017" y="1081749"/>
              <a:ext cx="117600" cy="18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13" name="Picture 12" descr="A diagram of a structure&#10;&#10;Description automatically generated">
            <a:extLst>
              <a:ext uri="{FF2B5EF4-FFF2-40B4-BE49-F238E27FC236}">
                <a16:creationId xmlns:a16="http://schemas.microsoft.com/office/drawing/2014/main" id="{B8F1D98C-2FA1-62B2-8470-0B32837C3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787" y="954122"/>
            <a:ext cx="5982926" cy="346443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6771F3F-164B-1AC1-F876-557C35FF3BF2}"/>
              </a:ext>
            </a:extLst>
          </p:cNvPr>
          <p:cNvSpPr txBox="1"/>
          <p:nvPr/>
        </p:nvSpPr>
        <p:spPr>
          <a:xfrm>
            <a:off x="513567" y="91539"/>
            <a:ext cx="40584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Lato" panose="020F0502020204030203" pitchFamily="34" charset="0"/>
              </a:rPr>
              <a:t>Predicted Loop Type</a:t>
            </a:r>
          </a:p>
        </p:txBody>
      </p:sp>
    </p:spTree>
    <p:extLst>
      <p:ext uri="{BB962C8B-B14F-4D97-AF65-F5344CB8AC3E}">
        <p14:creationId xmlns:p14="http://schemas.microsoft.com/office/powerpoint/2010/main" val="4153737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5"/>
          <p:cNvSpPr txBox="1">
            <a:spLocks noGrp="1"/>
          </p:cNvSpPr>
          <p:nvPr>
            <p:ph type="title"/>
          </p:nvPr>
        </p:nvSpPr>
        <p:spPr>
          <a:xfrm>
            <a:off x="423747" y="130429"/>
            <a:ext cx="4553936" cy="8709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Numerical Features</a:t>
            </a:r>
            <a:endParaRPr sz="3600" dirty="0"/>
          </a:p>
        </p:txBody>
      </p:sp>
      <p:pic>
        <p:nvPicPr>
          <p:cNvPr id="381" name="Google Shape;381;p45"/>
          <p:cNvPicPr preferRelativeResize="0"/>
          <p:nvPr/>
        </p:nvPicPr>
        <p:blipFill rotWithShape="1">
          <a:blip r:embed="rId3">
            <a:alphaModFix/>
          </a:blip>
          <a:srcRect l="15796" t="37680" r="15789" b="23092"/>
          <a:stretch/>
        </p:blipFill>
        <p:spPr>
          <a:xfrm>
            <a:off x="6201437" y="3422650"/>
            <a:ext cx="2195425" cy="1258798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5"/>
          <p:cNvSpPr txBox="1"/>
          <p:nvPr/>
        </p:nvSpPr>
        <p:spPr>
          <a:xfrm rot="5400000">
            <a:off x="8514275" y="1089675"/>
            <a:ext cx="338100" cy="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2022</a:t>
            </a:r>
            <a:endParaRPr sz="1000" dirty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grpSp>
        <p:nvGrpSpPr>
          <p:cNvPr id="383" name="Google Shape;383;p45"/>
          <p:cNvGrpSpPr/>
          <p:nvPr/>
        </p:nvGrpSpPr>
        <p:grpSpPr>
          <a:xfrm rot="5400000">
            <a:off x="8459352" y="525364"/>
            <a:ext cx="448016" cy="159289"/>
            <a:chOff x="4405045" y="960533"/>
            <a:chExt cx="680462" cy="241934"/>
          </a:xfrm>
        </p:grpSpPr>
        <p:grpSp>
          <p:nvGrpSpPr>
            <p:cNvPr id="384" name="Google Shape;384;p45"/>
            <p:cNvGrpSpPr/>
            <p:nvPr/>
          </p:nvGrpSpPr>
          <p:grpSpPr>
            <a:xfrm>
              <a:off x="4405045" y="960533"/>
              <a:ext cx="680462" cy="241934"/>
              <a:chOff x="4405045" y="960533"/>
              <a:chExt cx="680462" cy="241934"/>
            </a:xfrm>
          </p:grpSpPr>
          <p:sp>
            <p:nvSpPr>
              <p:cNvPr id="385" name="Google Shape;385;p45"/>
              <p:cNvSpPr/>
              <p:nvPr/>
            </p:nvSpPr>
            <p:spPr>
              <a:xfrm rot="2700000">
                <a:off x="4663796" y="997170"/>
                <a:ext cx="163342" cy="16885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45"/>
              <p:cNvSpPr/>
              <p:nvPr/>
            </p:nvSpPr>
            <p:spPr>
              <a:xfrm rot="-2700000">
                <a:off x="4436501" y="995607"/>
                <a:ext cx="151887" cy="151887"/>
              </a:xfrm>
              <a:prstGeom prst="arc">
                <a:avLst>
                  <a:gd name="adj1" fmla="val 17826268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87" name="Google Shape;387;p45"/>
              <p:cNvCxnSpPr>
                <a:stCxn id="386" idx="2"/>
                <a:endCxn id="385" idx="1"/>
              </p:cNvCxnSpPr>
              <p:nvPr/>
            </p:nvCxnSpPr>
            <p:spPr>
              <a:xfrm rot="-5400000" flipH="1">
                <a:off x="4564345" y="1019650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88" name="Google Shape;388;p45"/>
              <p:cNvSpPr/>
              <p:nvPr/>
            </p:nvSpPr>
            <p:spPr>
              <a:xfrm rot="-8100000" flipH="1">
                <a:off x="4436501" y="1019123"/>
                <a:ext cx="151887" cy="151887"/>
              </a:xfrm>
              <a:prstGeom prst="arc">
                <a:avLst>
                  <a:gd name="adj1" fmla="val 17776405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89" name="Google Shape;389;p45"/>
              <p:cNvCxnSpPr>
                <a:stCxn id="388" idx="2"/>
              </p:cNvCxnSpPr>
              <p:nvPr/>
            </p:nvCxnSpPr>
            <p:spPr>
              <a:xfrm rot="-5400000">
                <a:off x="4564345" y="1027266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90" name="Google Shape;390;p45"/>
              <p:cNvSpPr/>
              <p:nvPr/>
            </p:nvSpPr>
            <p:spPr>
              <a:xfrm rot="2700000" flipH="1">
                <a:off x="4902164" y="991990"/>
                <a:ext cx="151887" cy="151887"/>
              </a:xfrm>
              <a:prstGeom prst="arc">
                <a:avLst>
                  <a:gd name="adj1" fmla="val 17826268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91" name="Google Shape;391;p45"/>
              <p:cNvCxnSpPr>
                <a:stCxn id="390" idx="2"/>
              </p:cNvCxnSpPr>
              <p:nvPr/>
            </p:nvCxnSpPr>
            <p:spPr>
              <a:xfrm rot="5400000">
                <a:off x="4802907" y="1016033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92" name="Google Shape;392;p45"/>
              <p:cNvSpPr/>
              <p:nvPr/>
            </p:nvSpPr>
            <p:spPr>
              <a:xfrm rot="8100000">
                <a:off x="4902164" y="1015506"/>
                <a:ext cx="151887" cy="151887"/>
              </a:xfrm>
              <a:prstGeom prst="arc">
                <a:avLst>
                  <a:gd name="adj1" fmla="val 17776405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93" name="Google Shape;393;p45"/>
              <p:cNvCxnSpPr>
                <a:stCxn id="392" idx="2"/>
              </p:cNvCxnSpPr>
              <p:nvPr/>
            </p:nvCxnSpPr>
            <p:spPr>
              <a:xfrm rot="5400000" flipH="1">
                <a:off x="4802907" y="1023649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94" name="Google Shape;394;p45"/>
            <p:cNvCxnSpPr>
              <a:stCxn id="386" idx="2"/>
              <a:endCxn id="388" idx="2"/>
            </p:cNvCxnSpPr>
            <p:nvPr/>
          </p:nvCxnSpPr>
          <p:spPr>
            <a:xfrm rot="5400000">
              <a:off x="4500745" y="1083250"/>
              <a:ext cx="130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5" name="Google Shape;395;p45"/>
            <p:cNvCxnSpPr/>
            <p:nvPr/>
          </p:nvCxnSpPr>
          <p:spPr>
            <a:xfrm flipH="1">
              <a:off x="4527184" y="999281"/>
              <a:ext cx="900" cy="1677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6" name="Google Shape;396;p45"/>
            <p:cNvCxnSpPr>
              <a:stCxn id="390" idx="2"/>
              <a:endCxn id="392" idx="2"/>
            </p:cNvCxnSpPr>
            <p:nvPr/>
          </p:nvCxnSpPr>
          <p:spPr>
            <a:xfrm rot="5400000">
              <a:off x="4859007" y="1079633"/>
              <a:ext cx="130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7" name="Google Shape;397;p45"/>
            <p:cNvCxnSpPr/>
            <p:nvPr/>
          </p:nvCxnSpPr>
          <p:spPr>
            <a:xfrm>
              <a:off x="4962470" y="999281"/>
              <a:ext cx="900" cy="1677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8" name="Google Shape;398;p45"/>
            <p:cNvCxnSpPr>
              <a:stCxn id="385" idx="3"/>
              <a:endCxn id="385" idx="0"/>
            </p:cNvCxnSpPr>
            <p:nvPr/>
          </p:nvCxnSpPr>
          <p:spPr>
            <a:xfrm rot="5400000">
              <a:off x="4745467" y="1079799"/>
              <a:ext cx="117600" cy="18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9" name="Google Shape;399;p45"/>
            <p:cNvCxnSpPr/>
            <p:nvPr/>
          </p:nvCxnSpPr>
          <p:spPr>
            <a:xfrm flipH="1">
              <a:off x="4725475" y="1001074"/>
              <a:ext cx="900" cy="1623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" name="Google Shape;400;p45"/>
            <p:cNvCxnSpPr/>
            <p:nvPr/>
          </p:nvCxnSpPr>
          <p:spPr>
            <a:xfrm flipH="1">
              <a:off x="4764450" y="1001074"/>
              <a:ext cx="900" cy="1623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1" name="Google Shape;401;p45"/>
            <p:cNvCxnSpPr>
              <a:stCxn id="385" idx="2"/>
              <a:endCxn id="385" idx="1"/>
            </p:cNvCxnSpPr>
            <p:nvPr/>
          </p:nvCxnSpPr>
          <p:spPr>
            <a:xfrm rot="5400000">
              <a:off x="4628017" y="1081749"/>
              <a:ext cx="117600" cy="18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403" name="Google Shape;403;p45"/>
          <p:cNvPicPr preferRelativeResize="0"/>
          <p:nvPr/>
        </p:nvPicPr>
        <p:blipFill rotWithShape="1">
          <a:blip r:embed="rId4">
            <a:alphaModFix/>
          </a:blip>
          <a:srcRect l="29945" t="6866" r="29949" b="6874"/>
          <a:stretch/>
        </p:blipFill>
        <p:spPr>
          <a:xfrm>
            <a:off x="5078536" y="3436325"/>
            <a:ext cx="864102" cy="13140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60F66D-C8D5-47EC-BE61-9C434F3C660C}"/>
              </a:ext>
            </a:extLst>
          </p:cNvPr>
          <p:cNvSpPr txBox="1"/>
          <p:nvPr/>
        </p:nvSpPr>
        <p:spPr>
          <a:xfrm>
            <a:off x="398767" y="952799"/>
            <a:ext cx="4603896" cy="37286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Number of numerical variables:  7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reactivity_error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deg_error_Mg_pH10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deg_pH10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 deg_error_pH10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deg_error_Mg_50C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deg_50C 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bg1"/>
                </a:solidFill>
              </a:rPr>
              <a:t>deg_error_50C</a:t>
            </a:r>
          </a:p>
        </p:txBody>
      </p:sp>
    </p:spTree>
    <p:extLst>
      <p:ext uri="{BB962C8B-B14F-4D97-AF65-F5344CB8AC3E}">
        <p14:creationId xmlns:p14="http://schemas.microsoft.com/office/powerpoint/2010/main" val="3588196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5"/>
          <p:cNvSpPr txBox="1">
            <a:spLocks noGrp="1"/>
          </p:cNvSpPr>
          <p:nvPr>
            <p:ph type="title"/>
          </p:nvPr>
        </p:nvSpPr>
        <p:spPr>
          <a:xfrm>
            <a:off x="423747" y="130429"/>
            <a:ext cx="4553936" cy="8709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Target Features</a:t>
            </a:r>
            <a:endParaRPr sz="3600" dirty="0"/>
          </a:p>
        </p:txBody>
      </p:sp>
      <p:pic>
        <p:nvPicPr>
          <p:cNvPr id="381" name="Google Shape;381;p45"/>
          <p:cNvPicPr preferRelativeResize="0"/>
          <p:nvPr/>
        </p:nvPicPr>
        <p:blipFill rotWithShape="1">
          <a:blip r:embed="rId3">
            <a:alphaModFix/>
          </a:blip>
          <a:srcRect l="15796" t="37680" r="15789" b="23092"/>
          <a:stretch/>
        </p:blipFill>
        <p:spPr>
          <a:xfrm>
            <a:off x="6201437" y="3422650"/>
            <a:ext cx="2195425" cy="1258798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5"/>
          <p:cNvSpPr txBox="1"/>
          <p:nvPr/>
        </p:nvSpPr>
        <p:spPr>
          <a:xfrm rot="5400000">
            <a:off x="8514275" y="1089675"/>
            <a:ext cx="338100" cy="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2023</a:t>
            </a:r>
            <a:endParaRPr sz="1000" dirty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grpSp>
        <p:nvGrpSpPr>
          <p:cNvPr id="383" name="Google Shape;383;p45"/>
          <p:cNvGrpSpPr/>
          <p:nvPr/>
        </p:nvGrpSpPr>
        <p:grpSpPr>
          <a:xfrm rot="5400000">
            <a:off x="8459352" y="525364"/>
            <a:ext cx="448016" cy="159289"/>
            <a:chOff x="4405045" y="960533"/>
            <a:chExt cx="680462" cy="241934"/>
          </a:xfrm>
        </p:grpSpPr>
        <p:grpSp>
          <p:nvGrpSpPr>
            <p:cNvPr id="384" name="Google Shape;384;p45"/>
            <p:cNvGrpSpPr/>
            <p:nvPr/>
          </p:nvGrpSpPr>
          <p:grpSpPr>
            <a:xfrm>
              <a:off x="4405045" y="960533"/>
              <a:ext cx="680462" cy="241934"/>
              <a:chOff x="4405045" y="960533"/>
              <a:chExt cx="680462" cy="241934"/>
            </a:xfrm>
          </p:grpSpPr>
          <p:sp>
            <p:nvSpPr>
              <p:cNvPr id="385" name="Google Shape;385;p45"/>
              <p:cNvSpPr/>
              <p:nvPr/>
            </p:nvSpPr>
            <p:spPr>
              <a:xfrm rot="2700000">
                <a:off x="4663796" y="997170"/>
                <a:ext cx="163342" cy="16885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45"/>
              <p:cNvSpPr/>
              <p:nvPr/>
            </p:nvSpPr>
            <p:spPr>
              <a:xfrm rot="-2700000">
                <a:off x="4436501" y="995607"/>
                <a:ext cx="151887" cy="151887"/>
              </a:xfrm>
              <a:prstGeom prst="arc">
                <a:avLst>
                  <a:gd name="adj1" fmla="val 17826268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87" name="Google Shape;387;p45"/>
              <p:cNvCxnSpPr>
                <a:stCxn id="386" idx="2"/>
                <a:endCxn id="385" idx="1"/>
              </p:cNvCxnSpPr>
              <p:nvPr/>
            </p:nvCxnSpPr>
            <p:spPr>
              <a:xfrm rot="-5400000" flipH="1">
                <a:off x="4564345" y="1019650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88" name="Google Shape;388;p45"/>
              <p:cNvSpPr/>
              <p:nvPr/>
            </p:nvSpPr>
            <p:spPr>
              <a:xfrm rot="-8100000" flipH="1">
                <a:off x="4436501" y="1019123"/>
                <a:ext cx="151887" cy="151887"/>
              </a:xfrm>
              <a:prstGeom prst="arc">
                <a:avLst>
                  <a:gd name="adj1" fmla="val 17776405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89" name="Google Shape;389;p45"/>
              <p:cNvCxnSpPr>
                <a:stCxn id="388" idx="2"/>
              </p:cNvCxnSpPr>
              <p:nvPr/>
            </p:nvCxnSpPr>
            <p:spPr>
              <a:xfrm rot="-5400000">
                <a:off x="4564345" y="1027266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90" name="Google Shape;390;p45"/>
              <p:cNvSpPr/>
              <p:nvPr/>
            </p:nvSpPr>
            <p:spPr>
              <a:xfrm rot="2700000" flipH="1">
                <a:off x="4902164" y="991990"/>
                <a:ext cx="151887" cy="151887"/>
              </a:xfrm>
              <a:prstGeom prst="arc">
                <a:avLst>
                  <a:gd name="adj1" fmla="val 17826268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91" name="Google Shape;391;p45"/>
              <p:cNvCxnSpPr>
                <a:stCxn id="390" idx="2"/>
              </p:cNvCxnSpPr>
              <p:nvPr/>
            </p:nvCxnSpPr>
            <p:spPr>
              <a:xfrm rot="5400000">
                <a:off x="4802907" y="1016033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92" name="Google Shape;392;p45"/>
              <p:cNvSpPr/>
              <p:nvPr/>
            </p:nvSpPr>
            <p:spPr>
              <a:xfrm rot="8100000">
                <a:off x="4902164" y="1015506"/>
                <a:ext cx="151887" cy="151887"/>
              </a:xfrm>
              <a:prstGeom prst="arc">
                <a:avLst>
                  <a:gd name="adj1" fmla="val 17776405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93" name="Google Shape;393;p45"/>
              <p:cNvCxnSpPr>
                <a:stCxn id="392" idx="2"/>
              </p:cNvCxnSpPr>
              <p:nvPr/>
            </p:nvCxnSpPr>
            <p:spPr>
              <a:xfrm rot="5400000" flipH="1">
                <a:off x="4802907" y="1023649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94" name="Google Shape;394;p45"/>
            <p:cNvCxnSpPr>
              <a:stCxn id="386" idx="2"/>
              <a:endCxn id="388" idx="2"/>
            </p:cNvCxnSpPr>
            <p:nvPr/>
          </p:nvCxnSpPr>
          <p:spPr>
            <a:xfrm rot="5400000">
              <a:off x="4500745" y="1083250"/>
              <a:ext cx="130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5" name="Google Shape;395;p45"/>
            <p:cNvCxnSpPr/>
            <p:nvPr/>
          </p:nvCxnSpPr>
          <p:spPr>
            <a:xfrm flipH="1">
              <a:off x="4527184" y="999281"/>
              <a:ext cx="900" cy="1677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6" name="Google Shape;396;p45"/>
            <p:cNvCxnSpPr>
              <a:stCxn id="390" idx="2"/>
              <a:endCxn id="392" idx="2"/>
            </p:cNvCxnSpPr>
            <p:nvPr/>
          </p:nvCxnSpPr>
          <p:spPr>
            <a:xfrm rot="5400000">
              <a:off x="4859007" y="1079633"/>
              <a:ext cx="130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7" name="Google Shape;397;p45"/>
            <p:cNvCxnSpPr/>
            <p:nvPr/>
          </p:nvCxnSpPr>
          <p:spPr>
            <a:xfrm>
              <a:off x="4962470" y="999281"/>
              <a:ext cx="900" cy="1677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8" name="Google Shape;398;p45"/>
            <p:cNvCxnSpPr>
              <a:stCxn id="385" idx="3"/>
              <a:endCxn id="385" idx="0"/>
            </p:cNvCxnSpPr>
            <p:nvPr/>
          </p:nvCxnSpPr>
          <p:spPr>
            <a:xfrm rot="5400000">
              <a:off x="4745467" y="1079799"/>
              <a:ext cx="117600" cy="18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9" name="Google Shape;399;p45"/>
            <p:cNvCxnSpPr/>
            <p:nvPr/>
          </p:nvCxnSpPr>
          <p:spPr>
            <a:xfrm flipH="1">
              <a:off x="4725475" y="1001074"/>
              <a:ext cx="900" cy="1623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" name="Google Shape;400;p45"/>
            <p:cNvCxnSpPr/>
            <p:nvPr/>
          </p:nvCxnSpPr>
          <p:spPr>
            <a:xfrm flipH="1">
              <a:off x="4764450" y="1001074"/>
              <a:ext cx="900" cy="1623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1" name="Google Shape;401;p45"/>
            <p:cNvCxnSpPr>
              <a:stCxn id="385" idx="2"/>
              <a:endCxn id="385" idx="1"/>
            </p:cNvCxnSpPr>
            <p:nvPr/>
          </p:nvCxnSpPr>
          <p:spPr>
            <a:xfrm rot="5400000">
              <a:off x="4628017" y="1081749"/>
              <a:ext cx="117600" cy="18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403" name="Google Shape;403;p45"/>
          <p:cNvPicPr preferRelativeResize="0"/>
          <p:nvPr/>
        </p:nvPicPr>
        <p:blipFill rotWithShape="1">
          <a:blip r:embed="rId4">
            <a:alphaModFix/>
          </a:blip>
          <a:srcRect l="29945" t="6866" r="29949" b="6874"/>
          <a:stretch/>
        </p:blipFill>
        <p:spPr>
          <a:xfrm>
            <a:off x="5078536" y="3436325"/>
            <a:ext cx="864102" cy="13140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60F66D-C8D5-47EC-BE61-9C434F3C660C}"/>
              </a:ext>
            </a:extLst>
          </p:cNvPr>
          <p:cNvSpPr txBox="1"/>
          <p:nvPr/>
        </p:nvSpPr>
        <p:spPr>
          <a:xfrm>
            <a:off x="398767" y="1072151"/>
            <a:ext cx="8174158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bg1"/>
                </a:solidFill>
              </a:rPr>
              <a:t>In this problem we have multi output features(multi output regression problem)</a:t>
            </a:r>
            <a:endParaRPr lang="en-US" sz="20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endParaRPr lang="en-US" sz="18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bg1"/>
                </a:solidFill>
              </a:rPr>
              <a:t>'reactivity’ , 'deg_Mg_pH10’ , 'deg_Mg_50C'</a:t>
            </a:r>
          </a:p>
        </p:txBody>
      </p:sp>
    </p:spTree>
    <p:extLst>
      <p:ext uri="{BB962C8B-B14F-4D97-AF65-F5344CB8AC3E}">
        <p14:creationId xmlns:p14="http://schemas.microsoft.com/office/powerpoint/2010/main" val="6022191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55"/>
          <p:cNvPicPr preferRelativeResize="0"/>
          <p:nvPr/>
        </p:nvPicPr>
        <p:blipFill rotWithShape="1">
          <a:blip r:embed="rId3">
            <a:alphaModFix/>
          </a:blip>
          <a:srcRect b="2037"/>
          <a:stretch/>
        </p:blipFill>
        <p:spPr>
          <a:xfrm>
            <a:off x="6801528" y="2418974"/>
            <a:ext cx="1627224" cy="2249923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55"/>
          <p:cNvSpPr txBox="1">
            <a:spLocks noGrp="1"/>
          </p:cNvSpPr>
          <p:nvPr>
            <p:ph type="title"/>
          </p:nvPr>
        </p:nvSpPr>
        <p:spPr>
          <a:xfrm>
            <a:off x="2353672" y="2068413"/>
            <a:ext cx="4447856" cy="70112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chemeClr val="accent2">
                    <a:lumMod val="8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Click here for watching dashboard </a:t>
            </a:r>
            <a:endParaRPr lang="en-US" sz="2000" b="0" dirty="0">
              <a:solidFill>
                <a:schemeClr val="accent2">
                  <a:lumMod val="85000"/>
                </a:schemeClr>
              </a:solidFill>
            </a:endParaRPr>
          </a:p>
        </p:txBody>
      </p:sp>
      <p:pic>
        <p:nvPicPr>
          <p:cNvPr id="651" name="Google Shape;651;p55"/>
          <p:cNvPicPr preferRelativeResize="0"/>
          <p:nvPr/>
        </p:nvPicPr>
        <p:blipFill rotWithShape="1">
          <a:blip r:embed="rId5">
            <a:alphaModFix/>
          </a:blip>
          <a:srcRect l="29945" t="6866" r="29949" b="6874"/>
          <a:stretch/>
        </p:blipFill>
        <p:spPr>
          <a:xfrm>
            <a:off x="2281049" y="3436325"/>
            <a:ext cx="864102" cy="1314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55"/>
          <p:cNvPicPr preferRelativeResize="0"/>
          <p:nvPr/>
        </p:nvPicPr>
        <p:blipFill rotWithShape="1">
          <a:blip r:embed="rId6">
            <a:alphaModFix/>
          </a:blip>
          <a:srcRect b="2123"/>
          <a:stretch/>
        </p:blipFill>
        <p:spPr>
          <a:xfrm>
            <a:off x="723750" y="2485499"/>
            <a:ext cx="1415701" cy="2192927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55"/>
          <p:cNvSpPr txBox="1"/>
          <p:nvPr/>
        </p:nvSpPr>
        <p:spPr>
          <a:xfrm rot="5400000">
            <a:off x="8514275" y="1089675"/>
            <a:ext cx="338100" cy="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2023</a:t>
            </a:r>
            <a:endParaRPr sz="1000" dirty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grpSp>
        <p:nvGrpSpPr>
          <p:cNvPr id="654" name="Google Shape;654;p55"/>
          <p:cNvGrpSpPr/>
          <p:nvPr/>
        </p:nvGrpSpPr>
        <p:grpSpPr>
          <a:xfrm rot="5400000">
            <a:off x="8459352" y="525364"/>
            <a:ext cx="448016" cy="159289"/>
            <a:chOff x="4405045" y="960533"/>
            <a:chExt cx="680462" cy="241934"/>
          </a:xfrm>
        </p:grpSpPr>
        <p:grpSp>
          <p:nvGrpSpPr>
            <p:cNvPr id="655" name="Google Shape;655;p55"/>
            <p:cNvGrpSpPr/>
            <p:nvPr/>
          </p:nvGrpSpPr>
          <p:grpSpPr>
            <a:xfrm>
              <a:off x="4405045" y="960533"/>
              <a:ext cx="680462" cy="241934"/>
              <a:chOff x="4405045" y="960533"/>
              <a:chExt cx="680462" cy="241934"/>
            </a:xfrm>
          </p:grpSpPr>
          <p:sp>
            <p:nvSpPr>
              <p:cNvPr id="656" name="Google Shape;656;p55"/>
              <p:cNvSpPr/>
              <p:nvPr/>
            </p:nvSpPr>
            <p:spPr>
              <a:xfrm rot="2700000">
                <a:off x="4663796" y="997170"/>
                <a:ext cx="163342" cy="16885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55"/>
              <p:cNvSpPr/>
              <p:nvPr/>
            </p:nvSpPr>
            <p:spPr>
              <a:xfrm rot="-2700000">
                <a:off x="4436501" y="995607"/>
                <a:ext cx="151887" cy="151887"/>
              </a:xfrm>
              <a:prstGeom prst="arc">
                <a:avLst>
                  <a:gd name="adj1" fmla="val 17826268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58" name="Google Shape;658;p55"/>
              <p:cNvCxnSpPr>
                <a:stCxn id="657" idx="2"/>
                <a:endCxn id="656" idx="1"/>
              </p:cNvCxnSpPr>
              <p:nvPr/>
            </p:nvCxnSpPr>
            <p:spPr>
              <a:xfrm rot="-5400000" flipH="1">
                <a:off x="4564345" y="1019650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59" name="Google Shape;659;p55"/>
              <p:cNvSpPr/>
              <p:nvPr/>
            </p:nvSpPr>
            <p:spPr>
              <a:xfrm rot="-8100000" flipH="1">
                <a:off x="4436501" y="1019123"/>
                <a:ext cx="151887" cy="151887"/>
              </a:xfrm>
              <a:prstGeom prst="arc">
                <a:avLst>
                  <a:gd name="adj1" fmla="val 17776405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60" name="Google Shape;660;p55"/>
              <p:cNvCxnSpPr>
                <a:stCxn id="659" idx="2"/>
              </p:cNvCxnSpPr>
              <p:nvPr/>
            </p:nvCxnSpPr>
            <p:spPr>
              <a:xfrm rot="-5400000">
                <a:off x="4564345" y="1027266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1" name="Google Shape;661;p55"/>
              <p:cNvSpPr/>
              <p:nvPr/>
            </p:nvSpPr>
            <p:spPr>
              <a:xfrm rot="2700000" flipH="1">
                <a:off x="4902164" y="991990"/>
                <a:ext cx="151887" cy="151887"/>
              </a:xfrm>
              <a:prstGeom prst="arc">
                <a:avLst>
                  <a:gd name="adj1" fmla="val 17826268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62" name="Google Shape;662;p55"/>
              <p:cNvCxnSpPr>
                <a:stCxn id="661" idx="2"/>
              </p:cNvCxnSpPr>
              <p:nvPr/>
            </p:nvCxnSpPr>
            <p:spPr>
              <a:xfrm rot="5400000">
                <a:off x="4802907" y="1016033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3" name="Google Shape;663;p55"/>
              <p:cNvSpPr/>
              <p:nvPr/>
            </p:nvSpPr>
            <p:spPr>
              <a:xfrm rot="8100000">
                <a:off x="4902164" y="1015506"/>
                <a:ext cx="151887" cy="151887"/>
              </a:xfrm>
              <a:prstGeom prst="arc">
                <a:avLst>
                  <a:gd name="adj1" fmla="val 17776405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64" name="Google Shape;664;p55"/>
              <p:cNvCxnSpPr>
                <a:stCxn id="663" idx="2"/>
              </p:cNvCxnSpPr>
              <p:nvPr/>
            </p:nvCxnSpPr>
            <p:spPr>
              <a:xfrm rot="5400000" flipH="1">
                <a:off x="4802907" y="1023649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665" name="Google Shape;665;p55"/>
            <p:cNvCxnSpPr>
              <a:stCxn id="657" idx="2"/>
              <a:endCxn id="659" idx="2"/>
            </p:cNvCxnSpPr>
            <p:nvPr/>
          </p:nvCxnSpPr>
          <p:spPr>
            <a:xfrm rot="5400000">
              <a:off x="4500745" y="1083250"/>
              <a:ext cx="130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6" name="Google Shape;666;p55"/>
            <p:cNvCxnSpPr/>
            <p:nvPr/>
          </p:nvCxnSpPr>
          <p:spPr>
            <a:xfrm flipH="1">
              <a:off x="4527184" y="999281"/>
              <a:ext cx="900" cy="1677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7" name="Google Shape;667;p55"/>
            <p:cNvCxnSpPr>
              <a:stCxn id="661" idx="2"/>
              <a:endCxn id="663" idx="2"/>
            </p:cNvCxnSpPr>
            <p:nvPr/>
          </p:nvCxnSpPr>
          <p:spPr>
            <a:xfrm rot="5400000">
              <a:off x="4859007" y="1079633"/>
              <a:ext cx="130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8" name="Google Shape;668;p55"/>
            <p:cNvCxnSpPr/>
            <p:nvPr/>
          </p:nvCxnSpPr>
          <p:spPr>
            <a:xfrm>
              <a:off x="4962470" y="999281"/>
              <a:ext cx="900" cy="1677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9" name="Google Shape;669;p55"/>
            <p:cNvCxnSpPr>
              <a:stCxn id="656" idx="3"/>
              <a:endCxn id="656" idx="0"/>
            </p:cNvCxnSpPr>
            <p:nvPr/>
          </p:nvCxnSpPr>
          <p:spPr>
            <a:xfrm rot="5400000">
              <a:off x="4745467" y="1079799"/>
              <a:ext cx="117600" cy="18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0" name="Google Shape;670;p55"/>
            <p:cNvCxnSpPr/>
            <p:nvPr/>
          </p:nvCxnSpPr>
          <p:spPr>
            <a:xfrm flipH="1">
              <a:off x="4725475" y="1001074"/>
              <a:ext cx="900" cy="1623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1" name="Google Shape;671;p55"/>
            <p:cNvCxnSpPr/>
            <p:nvPr/>
          </p:nvCxnSpPr>
          <p:spPr>
            <a:xfrm flipH="1">
              <a:off x="4764450" y="1001074"/>
              <a:ext cx="900" cy="1623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2" name="Google Shape;672;p55"/>
            <p:cNvCxnSpPr>
              <a:stCxn id="656" idx="2"/>
              <a:endCxn id="656" idx="1"/>
            </p:cNvCxnSpPr>
            <p:nvPr/>
          </p:nvCxnSpPr>
          <p:spPr>
            <a:xfrm rot="5400000">
              <a:off x="4628017" y="1081749"/>
              <a:ext cx="117600" cy="18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" name="Google Shape;417;p46">
            <a:extLst>
              <a:ext uri="{FF2B5EF4-FFF2-40B4-BE49-F238E27FC236}">
                <a16:creationId xmlns:a16="http://schemas.microsoft.com/office/drawing/2014/main" id="{3AAF808B-2BFC-7DCA-1260-36AAB0A53CBB}"/>
              </a:ext>
            </a:extLst>
          </p:cNvPr>
          <p:cNvSpPr txBox="1">
            <a:spLocks/>
          </p:cNvSpPr>
          <p:nvPr/>
        </p:nvSpPr>
        <p:spPr>
          <a:xfrm>
            <a:off x="2931139" y="110632"/>
            <a:ext cx="3281721" cy="101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65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sz="4800" b="0" dirty="0">
                <a:latin typeface="Lato" panose="020F0502020204030203" pitchFamily="34" charset="0"/>
                <a:sym typeface="Lato Light"/>
              </a:rPr>
              <a:t>Dashboard</a:t>
            </a:r>
            <a:r>
              <a:rPr lang="en-US" sz="4800" b="0" dirty="0">
                <a:latin typeface="Lato Light"/>
                <a:sym typeface="Lato Light"/>
              </a:rPr>
              <a:t> 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285814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3"/>
          <p:cNvPicPr preferRelativeResize="0"/>
          <p:nvPr/>
        </p:nvPicPr>
        <p:blipFill rotWithShape="1">
          <a:blip r:embed="rId3">
            <a:alphaModFix/>
          </a:blip>
          <a:srcRect l="11611" t="6638" r="9827" b="14800"/>
          <a:stretch/>
        </p:blipFill>
        <p:spPr>
          <a:xfrm rot="10800000">
            <a:off x="4000499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3"/>
          <p:cNvSpPr txBox="1"/>
          <p:nvPr/>
        </p:nvSpPr>
        <p:spPr>
          <a:xfrm rot="5400000">
            <a:off x="8514275" y="1470675"/>
            <a:ext cx="338100" cy="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2023</a:t>
            </a:r>
            <a:endParaRPr sz="1000" dirty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grpSp>
        <p:nvGrpSpPr>
          <p:cNvPr id="326" name="Google Shape;326;p43"/>
          <p:cNvGrpSpPr/>
          <p:nvPr/>
        </p:nvGrpSpPr>
        <p:grpSpPr>
          <a:xfrm rot="5400000">
            <a:off x="8459352" y="906364"/>
            <a:ext cx="448016" cy="159289"/>
            <a:chOff x="4405045" y="960533"/>
            <a:chExt cx="680462" cy="241934"/>
          </a:xfrm>
        </p:grpSpPr>
        <p:grpSp>
          <p:nvGrpSpPr>
            <p:cNvPr id="327" name="Google Shape;327;p43"/>
            <p:cNvGrpSpPr/>
            <p:nvPr/>
          </p:nvGrpSpPr>
          <p:grpSpPr>
            <a:xfrm>
              <a:off x="4405045" y="960533"/>
              <a:ext cx="680462" cy="241934"/>
              <a:chOff x="4405045" y="960533"/>
              <a:chExt cx="680462" cy="241934"/>
            </a:xfrm>
          </p:grpSpPr>
          <p:sp>
            <p:nvSpPr>
              <p:cNvPr id="328" name="Google Shape;328;p43"/>
              <p:cNvSpPr/>
              <p:nvPr/>
            </p:nvSpPr>
            <p:spPr>
              <a:xfrm rot="2700000">
                <a:off x="4663796" y="997170"/>
                <a:ext cx="163342" cy="16885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43"/>
              <p:cNvSpPr/>
              <p:nvPr/>
            </p:nvSpPr>
            <p:spPr>
              <a:xfrm rot="-2700000">
                <a:off x="4436501" y="995607"/>
                <a:ext cx="151887" cy="151887"/>
              </a:xfrm>
              <a:prstGeom prst="arc">
                <a:avLst>
                  <a:gd name="adj1" fmla="val 17826268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30" name="Google Shape;330;p43"/>
              <p:cNvCxnSpPr>
                <a:stCxn id="329" idx="2"/>
                <a:endCxn id="328" idx="1"/>
              </p:cNvCxnSpPr>
              <p:nvPr/>
            </p:nvCxnSpPr>
            <p:spPr>
              <a:xfrm rot="-5400000" flipH="1">
                <a:off x="4564345" y="1019650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1" name="Google Shape;331;p43"/>
              <p:cNvSpPr/>
              <p:nvPr/>
            </p:nvSpPr>
            <p:spPr>
              <a:xfrm rot="-8100000" flipH="1">
                <a:off x="4436501" y="1019123"/>
                <a:ext cx="151887" cy="151887"/>
              </a:xfrm>
              <a:prstGeom prst="arc">
                <a:avLst>
                  <a:gd name="adj1" fmla="val 17776405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32" name="Google Shape;332;p43"/>
              <p:cNvCxnSpPr>
                <a:stCxn id="331" idx="2"/>
              </p:cNvCxnSpPr>
              <p:nvPr/>
            </p:nvCxnSpPr>
            <p:spPr>
              <a:xfrm rot="-5400000">
                <a:off x="4564345" y="1027266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3" name="Google Shape;333;p43"/>
              <p:cNvSpPr/>
              <p:nvPr/>
            </p:nvSpPr>
            <p:spPr>
              <a:xfrm rot="2700000" flipH="1">
                <a:off x="4902164" y="991990"/>
                <a:ext cx="151887" cy="151887"/>
              </a:xfrm>
              <a:prstGeom prst="arc">
                <a:avLst>
                  <a:gd name="adj1" fmla="val 17826268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34" name="Google Shape;334;p43"/>
              <p:cNvCxnSpPr>
                <a:stCxn id="333" idx="2"/>
              </p:cNvCxnSpPr>
              <p:nvPr/>
            </p:nvCxnSpPr>
            <p:spPr>
              <a:xfrm rot="5400000">
                <a:off x="4802907" y="1016033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5" name="Google Shape;335;p43"/>
              <p:cNvSpPr/>
              <p:nvPr/>
            </p:nvSpPr>
            <p:spPr>
              <a:xfrm rot="8100000">
                <a:off x="4902164" y="1015506"/>
                <a:ext cx="151887" cy="151887"/>
              </a:xfrm>
              <a:prstGeom prst="arc">
                <a:avLst>
                  <a:gd name="adj1" fmla="val 17776405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36" name="Google Shape;336;p43"/>
              <p:cNvCxnSpPr>
                <a:stCxn id="335" idx="2"/>
              </p:cNvCxnSpPr>
              <p:nvPr/>
            </p:nvCxnSpPr>
            <p:spPr>
              <a:xfrm rot="5400000" flipH="1">
                <a:off x="4802907" y="1023649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37" name="Google Shape;337;p43"/>
            <p:cNvCxnSpPr>
              <a:stCxn id="329" idx="2"/>
              <a:endCxn id="331" idx="2"/>
            </p:cNvCxnSpPr>
            <p:nvPr/>
          </p:nvCxnSpPr>
          <p:spPr>
            <a:xfrm rot="5400000">
              <a:off x="4500745" y="1083250"/>
              <a:ext cx="130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8" name="Google Shape;338;p43"/>
            <p:cNvCxnSpPr/>
            <p:nvPr/>
          </p:nvCxnSpPr>
          <p:spPr>
            <a:xfrm flipH="1">
              <a:off x="4527184" y="999281"/>
              <a:ext cx="900" cy="1677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" name="Google Shape;339;p43"/>
            <p:cNvCxnSpPr>
              <a:stCxn id="333" idx="2"/>
              <a:endCxn id="335" idx="2"/>
            </p:cNvCxnSpPr>
            <p:nvPr/>
          </p:nvCxnSpPr>
          <p:spPr>
            <a:xfrm rot="5400000">
              <a:off x="4859007" y="1079633"/>
              <a:ext cx="130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0" name="Google Shape;340;p43"/>
            <p:cNvCxnSpPr/>
            <p:nvPr/>
          </p:nvCxnSpPr>
          <p:spPr>
            <a:xfrm>
              <a:off x="4962470" y="999281"/>
              <a:ext cx="900" cy="1677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1" name="Google Shape;341;p43"/>
            <p:cNvCxnSpPr>
              <a:stCxn id="328" idx="3"/>
              <a:endCxn id="328" idx="0"/>
            </p:cNvCxnSpPr>
            <p:nvPr/>
          </p:nvCxnSpPr>
          <p:spPr>
            <a:xfrm rot="5400000">
              <a:off x="4745467" y="1079799"/>
              <a:ext cx="117600" cy="18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2" name="Google Shape;342;p43"/>
            <p:cNvCxnSpPr/>
            <p:nvPr/>
          </p:nvCxnSpPr>
          <p:spPr>
            <a:xfrm flipH="1">
              <a:off x="4725475" y="1001074"/>
              <a:ext cx="900" cy="1623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3" name="Google Shape;343;p43"/>
            <p:cNvCxnSpPr/>
            <p:nvPr/>
          </p:nvCxnSpPr>
          <p:spPr>
            <a:xfrm flipH="1">
              <a:off x="4764450" y="1001074"/>
              <a:ext cx="900" cy="1623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" name="Google Shape;344;p43"/>
            <p:cNvCxnSpPr>
              <a:stCxn id="328" idx="2"/>
              <a:endCxn id="328" idx="1"/>
            </p:cNvCxnSpPr>
            <p:nvPr/>
          </p:nvCxnSpPr>
          <p:spPr>
            <a:xfrm rot="5400000">
              <a:off x="4628017" y="1081749"/>
              <a:ext cx="117600" cy="18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" name="Google Shape;417;p46">
            <a:extLst>
              <a:ext uri="{FF2B5EF4-FFF2-40B4-BE49-F238E27FC236}">
                <a16:creationId xmlns:a16="http://schemas.microsoft.com/office/drawing/2014/main" id="{40399A4C-7A62-92E7-C01E-B0EFAC4A0181}"/>
              </a:ext>
            </a:extLst>
          </p:cNvPr>
          <p:cNvSpPr txBox="1">
            <a:spLocks/>
          </p:cNvSpPr>
          <p:nvPr/>
        </p:nvSpPr>
        <p:spPr>
          <a:xfrm>
            <a:off x="1434607" y="-110574"/>
            <a:ext cx="2550409" cy="1013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65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 sz="4800" b="0" dirty="0">
                <a:latin typeface="Lato" panose="020F0502020204030203" pitchFamily="34" charset="0"/>
                <a:sym typeface="Lato Light"/>
              </a:rPr>
              <a:t>Models</a:t>
            </a:r>
            <a:endParaRPr lang="en-US" sz="48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898A9A1-B7A3-EBD7-4F91-409EE0955A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6126839"/>
              </p:ext>
            </p:extLst>
          </p:nvPr>
        </p:nvGraphicFramePr>
        <p:xfrm>
          <a:off x="681344" y="941708"/>
          <a:ext cx="4256616" cy="3604455"/>
        </p:xfrm>
        <a:graphic>
          <a:graphicData uri="http://schemas.openxmlformats.org/drawingml/2006/table">
            <a:tbl>
              <a:tblPr firstRow="1" firstCol="1" bandRow="1">
                <a:tableStyleId>{527E6477-C526-4CE5-AB84-CDAB395D5041}</a:tableStyleId>
              </a:tblPr>
              <a:tblGrid>
                <a:gridCol w="2128308">
                  <a:extLst>
                    <a:ext uri="{9D8B030D-6E8A-4147-A177-3AD203B41FA5}">
                      <a16:colId xmlns:a16="http://schemas.microsoft.com/office/drawing/2014/main" val="4269848966"/>
                    </a:ext>
                  </a:extLst>
                </a:gridCol>
                <a:gridCol w="2128308">
                  <a:extLst>
                    <a:ext uri="{9D8B030D-6E8A-4147-A177-3AD203B41FA5}">
                      <a16:colId xmlns:a16="http://schemas.microsoft.com/office/drawing/2014/main" val="2724718667"/>
                    </a:ext>
                  </a:extLst>
                </a:gridCol>
              </a:tblGrid>
              <a:tr h="37958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The model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37" marR="47937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mcrmse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37" marR="47937" marT="0" marB="0"/>
                </a:tc>
                <a:extLst>
                  <a:ext uri="{0D108BD9-81ED-4DB2-BD59-A6C34878D82A}">
                    <a16:rowId xmlns:a16="http://schemas.microsoft.com/office/drawing/2014/main" val="1273713936"/>
                  </a:ext>
                </a:extLst>
              </a:tr>
              <a:tr h="3795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GradientBoostingRegressor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37" marR="47937" marT="0" marB="0"/>
                </a:tc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0.48788903096873354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37" marR="47937" marT="0" marB="0"/>
                </a:tc>
                <a:extLst>
                  <a:ext uri="{0D108BD9-81ED-4DB2-BD59-A6C34878D82A}">
                    <a16:rowId xmlns:a16="http://schemas.microsoft.com/office/drawing/2014/main" val="3601375692"/>
                  </a:ext>
                </a:extLst>
              </a:tr>
              <a:tr h="3795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lasso_regressor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37" marR="47937" marT="0" marB="0"/>
                </a:tc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0.7471217518134537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37" marR="47937" marT="0" marB="0"/>
                </a:tc>
                <a:extLst>
                  <a:ext uri="{0D108BD9-81ED-4DB2-BD59-A6C34878D82A}">
                    <a16:rowId xmlns:a16="http://schemas.microsoft.com/office/drawing/2014/main" val="1407769487"/>
                  </a:ext>
                </a:extLst>
              </a:tr>
              <a:tr h="3795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ridge_regressor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37" marR="47937" marT="0" marB="0"/>
                </a:tc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0.6122783780265372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37" marR="47937" marT="0" marB="0"/>
                </a:tc>
                <a:extLst>
                  <a:ext uri="{0D108BD9-81ED-4DB2-BD59-A6C34878D82A}">
                    <a16:rowId xmlns:a16="http://schemas.microsoft.com/office/drawing/2014/main" val="2114615697"/>
                  </a:ext>
                </a:extLst>
              </a:tr>
              <a:tr h="3795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knn_regressor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37" marR="47937" marT="0" marB="0"/>
                </a:tc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0.6181408002879986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37" marR="47937" marT="0" marB="0"/>
                </a:tc>
                <a:extLst>
                  <a:ext uri="{0D108BD9-81ED-4DB2-BD59-A6C34878D82A}">
                    <a16:rowId xmlns:a16="http://schemas.microsoft.com/office/drawing/2014/main" val="27119684"/>
                  </a:ext>
                </a:extLst>
              </a:tr>
              <a:tr h="3795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elastic_net_regressor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37" marR="47937" marT="0" marB="0"/>
                </a:tc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0.739450184000339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37" marR="47937" marT="0" marB="0"/>
                </a:tc>
                <a:extLst>
                  <a:ext uri="{0D108BD9-81ED-4DB2-BD59-A6C34878D82A}">
                    <a16:rowId xmlns:a16="http://schemas.microsoft.com/office/drawing/2014/main" val="2112299626"/>
                  </a:ext>
                </a:extLst>
              </a:tr>
              <a:tr h="3795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decision_tree_regressor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37" marR="47937" marT="0" marB="0"/>
                </a:tc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0.6146255799331644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37" marR="47937" marT="0" marB="0"/>
                </a:tc>
                <a:extLst>
                  <a:ext uri="{0D108BD9-81ED-4DB2-BD59-A6C34878D82A}">
                    <a16:rowId xmlns:a16="http://schemas.microsoft.com/office/drawing/2014/main" val="1070337510"/>
                  </a:ext>
                </a:extLst>
              </a:tr>
              <a:tr h="3795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BayesianRidge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37" marR="47937" marT="0" marB="0"/>
                </a:tc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0.6122713640026967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  <a:endParaRPr lang="en-US" sz="12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37" marR="47937" marT="0" marB="0"/>
                </a:tc>
                <a:extLst>
                  <a:ext uri="{0D108BD9-81ED-4DB2-BD59-A6C34878D82A}">
                    <a16:rowId xmlns:a16="http://schemas.microsoft.com/office/drawing/2014/main" val="1374049064"/>
                  </a:ext>
                </a:extLst>
              </a:tr>
              <a:tr h="37958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0" dirty="0" err="1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HuberRegressor</a:t>
                      </a:r>
                      <a:endParaRPr lang="en-US" sz="1200" kern="100" dirty="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  <a:endParaRPr lang="en-US" sz="1200" kern="100" dirty="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37" marR="47937" marT="0" marB="0"/>
                </a:tc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200" kern="0" dirty="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0.7541795018880778</a:t>
                      </a:r>
                      <a:endParaRPr lang="en-US" sz="1200" kern="100" dirty="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 </a:t>
                      </a:r>
                      <a:endParaRPr lang="en-US" sz="1200" kern="100" dirty="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37" marR="47937" marT="0" marB="0"/>
                </a:tc>
                <a:extLst>
                  <a:ext uri="{0D108BD9-81ED-4DB2-BD59-A6C34878D82A}">
                    <a16:rowId xmlns:a16="http://schemas.microsoft.com/office/drawing/2014/main" val="3461846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29718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3"/>
          <p:cNvPicPr preferRelativeResize="0"/>
          <p:nvPr/>
        </p:nvPicPr>
        <p:blipFill rotWithShape="1">
          <a:blip r:embed="rId3">
            <a:alphaModFix/>
          </a:blip>
          <a:srcRect l="11611" t="6638" r="9827" b="14800"/>
          <a:stretch/>
        </p:blipFill>
        <p:spPr>
          <a:xfrm rot="10800000">
            <a:off x="4000499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3"/>
          <p:cNvSpPr txBox="1"/>
          <p:nvPr/>
        </p:nvSpPr>
        <p:spPr>
          <a:xfrm rot="5400000">
            <a:off x="8514275" y="1470675"/>
            <a:ext cx="338100" cy="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2023</a:t>
            </a:r>
            <a:endParaRPr sz="1000" dirty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grpSp>
        <p:nvGrpSpPr>
          <p:cNvPr id="326" name="Google Shape;326;p43"/>
          <p:cNvGrpSpPr/>
          <p:nvPr/>
        </p:nvGrpSpPr>
        <p:grpSpPr>
          <a:xfrm rot="5400000">
            <a:off x="8459352" y="906364"/>
            <a:ext cx="448016" cy="159289"/>
            <a:chOff x="4405045" y="960533"/>
            <a:chExt cx="680462" cy="241934"/>
          </a:xfrm>
        </p:grpSpPr>
        <p:grpSp>
          <p:nvGrpSpPr>
            <p:cNvPr id="327" name="Google Shape;327;p43"/>
            <p:cNvGrpSpPr/>
            <p:nvPr/>
          </p:nvGrpSpPr>
          <p:grpSpPr>
            <a:xfrm>
              <a:off x="4405045" y="960533"/>
              <a:ext cx="680462" cy="241934"/>
              <a:chOff x="4405045" y="960533"/>
              <a:chExt cx="680462" cy="241934"/>
            </a:xfrm>
          </p:grpSpPr>
          <p:sp>
            <p:nvSpPr>
              <p:cNvPr id="328" name="Google Shape;328;p43"/>
              <p:cNvSpPr/>
              <p:nvPr/>
            </p:nvSpPr>
            <p:spPr>
              <a:xfrm rot="2700000">
                <a:off x="4663796" y="997170"/>
                <a:ext cx="163342" cy="16885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43"/>
              <p:cNvSpPr/>
              <p:nvPr/>
            </p:nvSpPr>
            <p:spPr>
              <a:xfrm rot="-2700000">
                <a:off x="4436501" y="995607"/>
                <a:ext cx="151887" cy="151887"/>
              </a:xfrm>
              <a:prstGeom prst="arc">
                <a:avLst>
                  <a:gd name="adj1" fmla="val 17826268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30" name="Google Shape;330;p43"/>
              <p:cNvCxnSpPr>
                <a:stCxn id="329" idx="2"/>
                <a:endCxn id="328" idx="1"/>
              </p:cNvCxnSpPr>
              <p:nvPr/>
            </p:nvCxnSpPr>
            <p:spPr>
              <a:xfrm rot="-5400000" flipH="1">
                <a:off x="4564345" y="1019650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1" name="Google Shape;331;p43"/>
              <p:cNvSpPr/>
              <p:nvPr/>
            </p:nvSpPr>
            <p:spPr>
              <a:xfrm rot="-8100000" flipH="1">
                <a:off x="4436501" y="1019123"/>
                <a:ext cx="151887" cy="151887"/>
              </a:xfrm>
              <a:prstGeom prst="arc">
                <a:avLst>
                  <a:gd name="adj1" fmla="val 17776405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32" name="Google Shape;332;p43"/>
              <p:cNvCxnSpPr>
                <a:stCxn id="331" idx="2"/>
              </p:cNvCxnSpPr>
              <p:nvPr/>
            </p:nvCxnSpPr>
            <p:spPr>
              <a:xfrm rot="-5400000">
                <a:off x="4564345" y="1027266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3" name="Google Shape;333;p43"/>
              <p:cNvSpPr/>
              <p:nvPr/>
            </p:nvSpPr>
            <p:spPr>
              <a:xfrm rot="2700000" flipH="1">
                <a:off x="4902164" y="991990"/>
                <a:ext cx="151887" cy="151887"/>
              </a:xfrm>
              <a:prstGeom prst="arc">
                <a:avLst>
                  <a:gd name="adj1" fmla="val 17826268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34" name="Google Shape;334;p43"/>
              <p:cNvCxnSpPr>
                <a:stCxn id="333" idx="2"/>
              </p:cNvCxnSpPr>
              <p:nvPr/>
            </p:nvCxnSpPr>
            <p:spPr>
              <a:xfrm rot="5400000">
                <a:off x="4802907" y="1016033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35" name="Google Shape;335;p43"/>
              <p:cNvSpPr/>
              <p:nvPr/>
            </p:nvSpPr>
            <p:spPr>
              <a:xfrm rot="8100000">
                <a:off x="4902164" y="1015506"/>
                <a:ext cx="151887" cy="151887"/>
              </a:xfrm>
              <a:prstGeom prst="arc">
                <a:avLst>
                  <a:gd name="adj1" fmla="val 17776405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36" name="Google Shape;336;p43"/>
              <p:cNvCxnSpPr>
                <a:stCxn id="335" idx="2"/>
              </p:cNvCxnSpPr>
              <p:nvPr/>
            </p:nvCxnSpPr>
            <p:spPr>
              <a:xfrm rot="5400000" flipH="1">
                <a:off x="4802907" y="1023649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37" name="Google Shape;337;p43"/>
            <p:cNvCxnSpPr>
              <a:stCxn id="329" idx="2"/>
              <a:endCxn id="331" idx="2"/>
            </p:cNvCxnSpPr>
            <p:nvPr/>
          </p:nvCxnSpPr>
          <p:spPr>
            <a:xfrm rot="5400000">
              <a:off x="4500745" y="1083250"/>
              <a:ext cx="130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8" name="Google Shape;338;p43"/>
            <p:cNvCxnSpPr/>
            <p:nvPr/>
          </p:nvCxnSpPr>
          <p:spPr>
            <a:xfrm flipH="1">
              <a:off x="4527184" y="999281"/>
              <a:ext cx="900" cy="1677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" name="Google Shape;339;p43"/>
            <p:cNvCxnSpPr>
              <a:stCxn id="333" idx="2"/>
              <a:endCxn id="335" idx="2"/>
            </p:cNvCxnSpPr>
            <p:nvPr/>
          </p:nvCxnSpPr>
          <p:spPr>
            <a:xfrm rot="5400000">
              <a:off x="4859007" y="1079633"/>
              <a:ext cx="130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0" name="Google Shape;340;p43"/>
            <p:cNvCxnSpPr/>
            <p:nvPr/>
          </p:nvCxnSpPr>
          <p:spPr>
            <a:xfrm>
              <a:off x="4962470" y="999281"/>
              <a:ext cx="900" cy="1677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1" name="Google Shape;341;p43"/>
            <p:cNvCxnSpPr>
              <a:stCxn id="328" idx="3"/>
              <a:endCxn id="328" idx="0"/>
            </p:cNvCxnSpPr>
            <p:nvPr/>
          </p:nvCxnSpPr>
          <p:spPr>
            <a:xfrm rot="5400000">
              <a:off x="4745467" y="1079799"/>
              <a:ext cx="117600" cy="18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2" name="Google Shape;342;p43"/>
            <p:cNvCxnSpPr/>
            <p:nvPr/>
          </p:nvCxnSpPr>
          <p:spPr>
            <a:xfrm flipH="1">
              <a:off x="4725475" y="1001074"/>
              <a:ext cx="900" cy="1623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3" name="Google Shape;343;p43"/>
            <p:cNvCxnSpPr/>
            <p:nvPr/>
          </p:nvCxnSpPr>
          <p:spPr>
            <a:xfrm flipH="1">
              <a:off x="4764450" y="1001074"/>
              <a:ext cx="900" cy="1623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4" name="Google Shape;344;p43"/>
            <p:cNvCxnSpPr>
              <a:stCxn id="328" idx="2"/>
              <a:endCxn id="328" idx="1"/>
            </p:cNvCxnSpPr>
            <p:nvPr/>
          </p:nvCxnSpPr>
          <p:spPr>
            <a:xfrm rot="5400000">
              <a:off x="4628017" y="1081749"/>
              <a:ext cx="117600" cy="18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C5FB8B-3590-DE8A-5C10-C6F73ECB8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711337"/>
              </p:ext>
            </p:extLst>
          </p:nvPr>
        </p:nvGraphicFramePr>
        <p:xfrm>
          <a:off x="350274" y="190409"/>
          <a:ext cx="4763986" cy="4285899"/>
        </p:xfrm>
        <a:graphic>
          <a:graphicData uri="http://schemas.openxmlformats.org/drawingml/2006/table">
            <a:tbl>
              <a:tblPr firstRow="1" firstCol="1" bandRow="1">
                <a:tableStyleId>{527E6477-C526-4CE5-AB84-CDAB395D5041}</a:tableStyleId>
              </a:tblPr>
              <a:tblGrid>
                <a:gridCol w="2381993">
                  <a:extLst>
                    <a:ext uri="{9D8B030D-6E8A-4147-A177-3AD203B41FA5}">
                      <a16:colId xmlns:a16="http://schemas.microsoft.com/office/drawing/2014/main" val="3457518450"/>
                    </a:ext>
                  </a:extLst>
                </a:gridCol>
                <a:gridCol w="2381993">
                  <a:extLst>
                    <a:ext uri="{9D8B030D-6E8A-4147-A177-3AD203B41FA5}">
                      <a16:colId xmlns:a16="http://schemas.microsoft.com/office/drawing/2014/main" val="455506212"/>
                    </a:ext>
                  </a:extLst>
                </a:gridCol>
              </a:tblGrid>
              <a:tr h="407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100" kern="0" dirty="0">
                          <a:solidFill>
                            <a:schemeClr val="accent2"/>
                          </a:solidFill>
                          <a:effectLst/>
                        </a:rPr>
                        <a:t>AdaBoostRegressor</a:t>
                      </a:r>
                      <a:endParaRPr lang="en-US" sz="1100" kern="100" dirty="0">
                        <a:solidFill>
                          <a:schemeClr val="accent2"/>
                        </a:solidFill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accent2"/>
                          </a:solidFill>
                          <a:effectLst/>
                        </a:rPr>
                        <a:t> </a:t>
                      </a:r>
                      <a:endParaRPr lang="en-US" sz="1100" kern="100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43" marR="43143" marT="0" marB="0"/>
                </a:tc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100" kern="0" dirty="0">
                          <a:solidFill>
                            <a:schemeClr val="accent2"/>
                          </a:solidFill>
                          <a:effectLst/>
                        </a:rPr>
                        <a:t>1.2580065262562607</a:t>
                      </a:r>
                      <a:endParaRPr lang="en-US" sz="1100" kern="100" dirty="0">
                        <a:solidFill>
                          <a:schemeClr val="accent2"/>
                        </a:solidFill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accent2"/>
                          </a:solidFill>
                          <a:effectLst/>
                        </a:rPr>
                        <a:t> </a:t>
                      </a:r>
                      <a:endParaRPr lang="en-US" sz="1100" kern="100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43" marR="43143" marT="0" marB="0"/>
                </a:tc>
                <a:extLst>
                  <a:ext uri="{0D108BD9-81ED-4DB2-BD59-A6C34878D82A}">
                    <a16:rowId xmlns:a16="http://schemas.microsoft.com/office/drawing/2014/main" val="3794362182"/>
                  </a:ext>
                </a:extLst>
              </a:tr>
              <a:tr h="407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100" kern="0">
                          <a:solidFill>
                            <a:schemeClr val="accent2"/>
                          </a:solidFill>
                          <a:effectLst/>
                        </a:rPr>
                        <a:t>RidgeCV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accent2"/>
                          </a:solidFill>
                          <a:effectLst/>
                        </a:rPr>
                        <a:t> 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43" marR="43143" marT="0" marB="0"/>
                </a:tc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100" kern="0">
                          <a:solidFill>
                            <a:schemeClr val="accent2"/>
                          </a:solidFill>
                          <a:effectLst/>
                        </a:rPr>
                        <a:t>0.6124309671160654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accent2"/>
                          </a:solidFill>
                          <a:effectLst/>
                        </a:rPr>
                        <a:t> 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43" marR="43143" marT="0" marB="0"/>
                </a:tc>
                <a:extLst>
                  <a:ext uri="{0D108BD9-81ED-4DB2-BD59-A6C34878D82A}">
                    <a16:rowId xmlns:a16="http://schemas.microsoft.com/office/drawing/2014/main" val="1284560884"/>
                  </a:ext>
                </a:extLst>
              </a:tr>
              <a:tr h="407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100" kern="0">
                          <a:solidFill>
                            <a:schemeClr val="accent2"/>
                          </a:solidFill>
                          <a:effectLst/>
                        </a:rPr>
                        <a:t>LassoCV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accent2"/>
                          </a:solidFill>
                          <a:effectLst/>
                        </a:rPr>
                        <a:t> 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43" marR="43143" marT="0" marB="0"/>
                </a:tc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100" kern="0">
                          <a:solidFill>
                            <a:schemeClr val="accent2"/>
                          </a:solidFill>
                          <a:effectLst/>
                        </a:rPr>
                        <a:t>0.7471111868473069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accent2"/>
                          </a:solidFill>
                          <a:effectLst/>
                        </a:rPr>
                        <a:t> 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43" marR="43143" marT="0" marB="0"/>
                </a:tc>
                <a:extLst>
                  <a:ext uri="{0D108BD9-81ED-4DB2-BD59-A6C34878D82A}">
                    <a16:rowId xmlns:a16="http://schemas.microsoft.com/office/drawing/2014/main" val="2586265391"/>
                  </a:ext>
                </a:extLst>
              </a:tr>
              <a:tr h="407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100" kern="0" dirty="0" err="1">
                          <a:solidFill>
                            <a:schemeClr val="accent2"/>
                          </a:solidFill>
                          <a:effectLst/>
                        </a:rPr>
                        <a:t>OrthogonalMatchingPursuit</a:t>
                      </a:r>
                      <a:r>
                        <a:rPr lang="en-US" sz="1100" kern="0" dirty="0">
                          <a:solidFill>
                            <a:schemeClr val="accent2"/>
                          </a:solidFill>
                          <a:effectLst/>
                        </a:rPr>
                        <a:t>(OMP)</a:t>
                      </a:r>
                      <a:endParaRPr lang="en-US" sz="1100" kern="100" dirty="0">
                        <a:solidFill>
                          <a:schemeClr val="accent2"/>
                        </a:solidFill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accent2"/>
                          </a:solidFill>
                          <a:effectLst/>
                        </a:rPr>
                        <a:t> </a:t>
                      </a:r>
                      <a:endParaRPr lang="en-US" sz="1100" kern="100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43" marR="43143" marT="0" marB="0"/>
                </a:tc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100" kern="0">
                          <a:solidFill>
                            <a:schemeClr val="accent2"/>
                          </a:solidFill>
                          <a:effectLst/>
                        </a:rPr>
                        <a:t>0.6279786589556227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accent2"/>
                          </a:solidFill>
                          <a:effectLst/>
                        </a:rPr>
                        <a:t> 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43" marR="43143" marT="0" marB="0"/>
                </a:tc>
                <a:extLst>
                  <a:ext uri="{0D108BD9-81ED-4DB2-BD59-A6C34878D82A}">
                    <a16:rowId xmlns:a16="http://schemas.microsoft.com/office/drawing/2014/main" val="3961208047"/>
                  </a:ext>
                </a:extLst>
              </a:tr>
              <a:tr h="407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100" kern="0">
                          <a:solidFill>
                            <a:schemeClr val="accent2"/>
                          </a:solidFill>
                          <a:effectLst/>
                        </a:rPr>
                        <a:t>TweedieRegressor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accent2"/>
                          </a:solidFill>
                          <a:effectLst/>
                        </a:rPr>
                        <a:t> 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43" marR="43143" marT="0" marB="0"/>
                </a:tc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100" kern="0">
                          <a:solidFill>
                            <a:schemeClr val="accent2"/>
                          </a:solidFill>
                          <a:effectLst/>
                        </a:rPr>
                        <a:t>0.6272364329347443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accent2"/>
                          </a:solidFill>
                          <a:effectLst/>
                        </a:rPr>
                        <a:t> 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43" marR="43143" marT="0" marB="0"/>
                </a:tc>
                <a:extLst>
                  <a:ext uri="{0D108BD9-81ED-4DB2-BD59-A6C34878D82A}">
                    <a16:rowId xmlns:a16="http://schemas.microsoft.com/office/drawing/2014/main" val="2434725325"/>
                  </a:ext>
                </a:extLst>
              </a:tr>
              <a:tr h="407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100" kern="0">
                          <a:solidFill>
                            <a:schemeClr val="accent2"/>
                          </a:solidFill>
                          <a:effectLst/>
                        </a:rPr>
                        <a:t>CatBoostRegressor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accent2"/>
                          </a:solidFill>
                          <a:effectLst/>
                        </a:rPr>
                        <a:t> 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43" marR="43143" marT="0" marB="0"/>
                </a:tc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100" kern="0">
                          <a:solidFill>
                            <a:schemeClr val="accent2"/>
                          </a:solidFill>
                          <a:effectLst/>
                        </a:rPr>
                        <a:t>0.5134073085738203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accent2"/>
                          </a:solidFill>
                          <a:effectLst/>
                        </a:rPr>
                        <a:t> 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43" marR="43143" marT="0" marB="0"/>
                </a:tc>
                <a:extLst>
                  <a:ext uri="{0D108BD9-81ED-4DB2-BD59-A6C34878D82A}">
                    <a16:rowId xmlns:a16="http://schemas.microsoft.com/office/drawing/2014/main" val="2009725419"/>
                  </a:ext>
                </a:extLst>
              </a:tr>
              <a:tr h="61806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100" kern="0">
                          <a:solidFill>
                            <a:schemeClr val="accent2"/>
                          </a:solidFill>
                          <a:effectLst/>
                        </a:rPr>
                        <a:t>HistGradientBoostingRegressor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accent2"/>
                          </a:solidFill>
                          <a:effectLst/>
                        </a:rPr>
                        <a:t> 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43" marR="43143" marT="0" marB="0"/>
                </a:tc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100" kern="0">
                          <a:solidFill>
                            <a:schemeClr val="accent2"/>
                          </a:solidFill>
                          <a:effectLst/>
                        </a:rPr>
                        <a:t>0.5303554132938008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accent2"/>
                          </a:solidFill>
                          <a:effectLst/>
                        </a:rPr>
                        <a:t> 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43" marR="43143" marT="0" marB="0"/>
                </a:tc>
                <a:extLst>
                  <a:ext uri="{0D108BD9-81ED-4DB2-BD59-A6C34878D82A}">
                    <a16:rowId xmlns:a16="http://schemas.microsoft.com/office/drawing/2014/main" val="2113260196"/>
                  </a:ext>
                </a:extLst>
              </a:tr>
              <a:tr h="407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100" kern="0">
                          <a:solidFill>
                            <a:schemeClr val="accent2"/>
                          </a:solidFill>
                          <a:effectLst/>
                        </a:rPr>
                        <a:t>LGBMRegressor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accent2"/>
                          </a:solidFill>
                          <a:effectLst/>
                        </a:rPr>
                        <a:t> 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43" marR="43143" marT="0" marB="0"/>
                </a:tc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100" kern="0">
                          <a:solidFill>
                            <a:schemeClr val="accent2"/>
                          </a:solidFill>
                          <a:effectLst/>
                        </a:rPr>
                        <a:t>0.5046534268233877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>
                          <a:solidFill>
                            <a:schemeClr val="accent2"/>
                          </a:solidFill>
                          <a:effectLst/>
                        </a:rPr>
                        <a:t> </a:t>
                      </a:r>
                      <a:endParaRPr lang="en-US" sz="1100" kern="10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43" marR="43143" marT="0" marB="0"/>
                </a:tc>
                <a:extLst>
                  <a:ext uri="{0D108BD9-81ED-4DB2-BD59-A6C34878D82A}">
                    <a16:rowId xmlns:a16="http://schemas.microsoft.com/office/drawing/2014/main" val="2223631618"/>
                  </a:ext>
                </a:extLst>
              </a:tr>
              <a:tr h="407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100" kern="0" dirty="0">
                          <a:solidFill>
                            <a:schemeClr val="accent2"/>
                          </a:solidFill>
                          <a:effectLst/>
                        </a:rPr>
                        <a:t>XGBRegressor</a:t>
                      </a:r>
                      <a:endParaRPr lang="en-US" sz="1100" kern="100" dirty="0">
                        <a:solidFill>
                          <a:schemeClr val="accent2"/>
                        </a:solidFill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accent2"/>
                          </a:solidFill>
                          <a:effectLst/>
                        </a:rPr>
                        <a:t> </a:t>
                      </a:r>
                      <a:endParaRPr lang="en-US" sz="1100" kern="100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43" marR="43143" marT="0" marB="0"/>
                </a:tc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100" kern="0" dirty="0">
                          <a:solidFill>
                            <a:schemeClr val="accent2"/>
                          </a:solidFill>
                          <a:effectLst/>
                        </a:rPr>
                        <a:t>0.3667763870228275</a:t>
                      </a:r>
                      <a:endParaRPr lang="en-US" sz="1100" kern="100" dirty="0">
                        <a:solidFill>
                          <a:schemeClr val="accent2"/>
                        </a:solidFill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accent2"/>
                          </a:solidFill>
                          <a:effectLst/>
                        </a:rPr>
                        <a:t> </a:t>
                      </a:r>
                      <a:endParaRPr lang="en-US" sz="1100" kern="100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43" marR="43143" marT="0" marB="0"/>
                </a:tc>
                <a:extLst>
                  <a:ext uri="{0D108BD9-81ED-4DB2-BD59-A6C34878D82A}">
                    <a16:rowId xmlns:a16="http://schemas.microsoft.com/office/drawing/2014/main" val="2719990261"/>
                  </a:ext>
                </a:extLst>
              </a:tr>
              <a:tr h="4075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100" kern="0" dirty="0">
                          <a:solidFill>
                            <a:schemeClr val="accent2"/>
                          </a:solidFill>
                          <a:effectLst/>
                        </a:rPr>
                        <a:t>RandomForestRegressor</a:t>
                      </a:r>
                      <a:endParaRPr lang="en-US" sz="1100" kern="100" dirty="0">
                        <a:solidFill>
                          <a:schemeClr val="accent2"/>
                        </a:solidFill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accent2"/>
                          </a:solidFill>
                          <a:effectLst/>
                        </a:rPr>
                        <a:t> </a:t>
                      </a:r>
                      <a:endParaRPr lang="en-US" sz="1100" kern="100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43" marR="43143" marT="0" marB="0"/>
                </a:tc>
                <a:tc>
                  <a:txBody>
                    <a:bodyPr/>
                    <a:lstStyle/>
                    <a:p>
                      <a:pPr marL="0" marR="0" latinLnBrk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100" kern="0" dirty="0">
                          <a:solidFill>
                            <a:schemeClr val="accent2"/>
                          </a:solidFill>
                          <a:effectLst/>
                        </a:rPr>
                        <a:t>0.4528004997265309</a:t>
                      </a:r>
                      <a:endParaRPr lang="en-US" sz="1100" kern="100" dirty="0">
                        <a:solidFill>
                          <a:schemeClr val="accent2"/>
                        </a:solidFill>
                        <a:effectLst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kern="100" dirty="0">
                          <a:solidFill>
                            <a:schemeClr val="accent2"/>
                          </a:solidFill>
                          <a:effectLst/>
                        </a:rPr>
                        <a:t> </a:t>
                      </a:r>
                      <a:endParaRPr lang="en-US" sz="1100" kern="100" dirty="0">
                        <a:solidFill>
                          <a:schemeClr val="accent2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3143" marR="43143" marT="0" marB="0"/>
                </a:tc>
                <a:extLst>
                  <a:ext uri="{0D108BD9-81ED-4DB2-BD59-A6C34878D82A}">
                    <a16:rowId xmlns:a16="http://schemas.microsoft.com/office/drawing/2014/main" val="41084238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8091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5"/>
          <p:cNvSpPr txBox="1">
            <a:spLocks noGrp="1"/>
          </p:cNvSpPr>
          <p:nvPr>
            <p:ph type="title"/>
          </p:nvPr>
        </p:nvSpPr>
        <p:spPr>
          <a:xfrm>
            <a:off x="1497968" y="86975"/>
            <a:ext cx="4703469" cy="8709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3200" kern="100" dirty="0">
                <a:latin typeface="Lato" panose="020F050202020403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H</a:t>
            </a:r>
            <a:r>
              <a:rPr lang="en-US" sz="3200" kern="100" dirty="0">
                <a:effectLst/>
                <a:latin typeface="Lato" panose="020F050202020403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yperparameter </a:t>
            </a:r>
            <a:r>
              <a:rPr lang="en-US" sz="3200" kern="100" dirty="0">
                <a:latin typeface="Lato" panose="020F050202020403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T</a:t>
            </a:r>
            <a:r>
              <a:rPr lang="en-US" sz="3200" kern="100" dirty="0">
                <a:effectLst/>
                <a:latin typeface="Lato" panose="020F050202020403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uning</a:t>
            </a:r>
          </a:p>
        </p:txBody>
      </p:sp>
      <p:pic>
        <p:nvPicPr>
          <p:cNvPr id="381" name="Google Shape;381;p45"/>
          <p:cNvPicPr preferRelativeResize="0"/>
          <p:nvPr/>
        </p:nvPicPr>
        <p:blipFill rotWithShape="1">
          <a:blip r:embed="rId3">
            <a:alphaModFix/>
          </a:blip>
          <a:srcRect l="15796" t="37680" r="15789" b="23092"/>
          <a:stretch/>
        </p:blipFill>
        <p:spPr>
          <a:xfrm>
            <a:off x="6201437" y="3422650"/>
            <a:ext cx="2195425" cy="1258798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5"/>
          <p:cNvSpPr txBox="1"/>
          <p:nvPr/>
        </p:nvSpPr>
        <p:spPr>
          <a:xfrm rot="5400000">
            <a:off x="8514275" y="1089675"/>
            <a:ext cx="338100" cy="2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2023</a:t>
            </a:r>
            <a:endParaRPr sz="1000" dirty="0">
              <a:solidFill>
                <a:schemeClr val="lt1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grpSp>
        <p:nvGrpSpPr>
          <p:cNvPr id="383" name="Google Shape;383;p45"/>
          <p:cNvGrpSpPr/>
          <p:nvPr/>
        </p:nvGrpSpPr>
        <p:grpSpPr>
          <a:xfrm rot="5400000">
            <a:off x="8459352" y="525364"/>
            <a:ext cx="448016" cy="159289"/>
            <a:chOff x="4405045" y="960533"/>
            <a:chExt cx="680462" cy="241934"/>
          </a:xfrm>
        </p:grpSpPr>
        <p:grpSp>
          <p:nvGrpSpPr>
            <p:cNvPr id="384" name="Google Shape;384;p45"/>
            <p:cNvGrpSpPr/>
            <p:nvPr/>
          </p:nvGrpSpPr>
          <p:grpSpPr>
            <a:xfrm>
              <a:off x="4405045" y="960533"/>
              <a:ext cx="680462" cy="241934"/>
              <a:chOff x="4405045" y="960533"/>
              <a:chExt cx="680462" cy="241934"/>
            </a:xfrm>
          </p:grpSpPr>
          <p:sp>
            <p:nvSpPr>
              <p:cNvPr id="385" name="Google Shape;385;p45"/>
              <p:cNvSpPr/>
              <p:nvPr/>
            </p:nvSpPr>
            <p:spPr>
              <a:xfrm rot="2700000">
                <a:off x="4663796" y="997170"/>
                <a:ext cx="163342" cy="16885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45"/>
              <p:cNvSpPr/>
              <p:nvPr/>
            </p:nvSpPr>
            <p:spPr>
              <a:xfrm rot="-2700000">
                <a:off x="4436501" y="995607"/>
                <a:ext cx="151887" cy="151887"/>
              </a:xfrm>
              <a:prstGeom prst="arc">
                <a:avLst>
                  <a:gd name="adj1" fmla="val 17826268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87" name="Google Shape;387;p45"/>
              <p:cNvCxnSpPr>
                <a:stCxn id="386" idx="2"/>
                <a:endCxn id="385" idx="1"/>
              </p:cNvCxnSpPr>
              <p:nvPr/>
            </p:nvCxnSpPr>
            <p:spPr>
              <a:xfrm rot="-5400000" flipH="1">
                <a:off x="4564345" y="1019650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88" name="Google Shape;388;p45"/>
              <p:cNvSpPr/>
              <p:nvPr/>
            </p:nvSpPr>
            <p:spPr>
              <a:xfrm rot="-8100000" flipH="1">
                <a:off x="4436501" y="1019123"/>
                <a:ext cx="151887" cy="151887"/>
              </a:xfrm>
              <a:prstGeom prst="arc">
                <a:avLst>
                  <a:gd name="adj1" fmla="val 17776405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89" name="Google Shape;389;p45"/>
              <p:cNvCxnSpPr>
                <a:stCxn id="388" idx="2"/>
              </p:cNvCxnSpPr>
              <p:nvPr/>
            </p:nvCxnSpPr>
            <p:spPr>
              <a:xfrm rot="-5400000">
                <a:off x="4564345" y="1027266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90" name="Google Shape;390;p45"/>
              <p:cNvSpPr/>
              <p:nvPr/>
            </p:nvSpPr>
            <p:spPr>
              <a:xfrm rot="2700000" flipH="1">
                <a:off x="4902164" y="991990"/>
                <a:ext cx="151887" cy="151887"/>
              </a:xfrm>
              <a:prstGeom prst="arc">
                <a:avLst>
                  <a:gd name="adj1" fmla="val 17826268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91" name="Google Shape;391;p45"/>
              <p:cNvCxnSpPr>
                <a:stCxn id="390" idx="2"/>
              </p:cNvCxnSpPr>
              <p:nvPr/>
            </p:nvCxnSpPr>
            <p:spPr>
              <a:xfrm rot="5400000">
                <a:off x="4802907" y="1016033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92" name="Google Shape;392;p45"/>
              <p:cNvSpPr/>
              <p:nvPr/>
            </p:nvSpPr>
            <p:spPr>
              <a:xfrm rot="8100000">
                <a:off x="4902164" y="1015506"/>
                <a:ext cx="151887" cy="151887"/>
              </a:xfrm>
              <a:prstGeom prst="arc">
                <a:avLst>
                  <a:gd name="adj1" fmla="val 17776405"/>
                  <a:gd name="adj2" fmla="val 0"/>
                </a:avLst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93" name="Google Shape;393;p45"/>
              <p:cNvCxnSpPr>
                <a:stCxn id="392" idx="2"/>
              </p:cNvCxnSpPr>
              <p:nvPr/>
            </p:nvCxnSpPr>
            <p:spPr>
              <a:xfrm rot="5400000" flipH="1">
                <a:off x="4802907" y="1023649"/>
                <a:ext cx="123300" cy="119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394" name="Google Shape;394;p45"/>
            <p:cNvCxnSpPr>
              <a:stCxn id="386" idx="2"/>
              <a:endCxn id="388" idx="2"/>
            </p:cNvCxnSpPr>
            <p:nvPr/>
          </p:nvCxnSpPr>
          <p:spPr>
            <a:xfrm rot="5400000">
              <a:off x="4500745" y="1083250"/>
              <a:ext cx="130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5" name="Google Shape;395;p45"/>
            <p:cNvCxnSpPr/>
            <p:nvPr/>
          </p:nvCxnSpPr>
          <p:spPr>
            <a:xfrm flipH="1">
              <a:off x="4527184" y="999281"/>
              <a:ext cx="900" cy="1677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6" name="Google Shape;396;p45"/>
            <p:cNvCxnSpPr>
              <a:stCxn id="390" idx="2"/>
              <a:endCxn id="392" idx="2"/>
            </p:cNvCxnSpPr>
            <p:nvPr/>
          </p:nvCxnSpPr>
          <p:spPr>
            <a:xfrm rot="5400000">
              <a:off x="4859007" y="1079633"/>
              <a:ext cx="1308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7" name="Google Shape;397;p45"/>
            <p:cNvCxnSpPr/>
            <p:nvPr/>
          </p:nvCxnSpPr>
          <p:spPr>
            <a:xfrm>
              <a:off x="4962470" y="999281"/>
              <a:ext cx="900" cy="1677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8" name="Google Shape;398;p45"/>
            <p:cNvCxnSpPr>
              <a:stCxn id="385" idx="3"/>
              <a:endCxn id="385" idx="0"/>
            </p:cNvCxnSpPr>
            <p:nvPr/>
          </p:nvCxnSpPr>
          <p:spPr>
            <a:xfrm rot="5400000">
              <a:off x="4745467" y="1079799"/>
              <a:ext cx="117600" cy="18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9" name="Google Shape;399;p45"/>
            <p:cNvCxnSpPr/>
            <p:nvPr/>
          </p:nvCxnSpPr>
          <p:spPr>
            <a:xfrm flipH="1">
              <a:off x="4725475" y="1001074"/>
              <a:ext cx="900" cy="1623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0" name="Google Shape;400;p45"/>
            <p:cNvCxnSpPr/>
            <p:nvPr/>
          </p:nvCxnSpPr>
          <p:spPr>
            <a:xfrm flipH="1">
              <a:off x="4764450" y="1001074"/>
              <a:ext cx="900" cy="162300"/>
            </a:xfrm>
            <a:prstGeom prst="straightConnector1">
              <a:avLst/>
            </a:prstGeom>
            <a:noFill/>
            <a:ln w="9525" cap="rnd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1" name="Google Shape;401;p45"/>
            <p:cNvCxnSpPr>
              <a:stCxn id="385" idx="2"/>
              <a:endCxn id="385" idx="1"/>
            </p:cNvCxnSpPr>
            <p:nvPr/>
          </p:nvCxnSpPr>
          <p:spPr>
            <a:xfrm rot="5400000">
              <a:off x="4628017" y="1081749"/>
              <a:ext cx="117600" cy="18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403" name="Google Shape;403;p45"/>
          <p:cNvPicPr preferRelativeResize="0"/>
          <p:nvPr/>
        </p:nvPicPr>
        <p:blipFill rotWithShape="1">
          <a:blip r:embed="rId4">
            <a:alphaModFix/>
          </a:blip>
          <a:srcRect l="29945" t="6866" r="29949" b="6874"/>
          <a:stretch/>
        </p:blipFill>
        <p:spPr>
          <a:xfrm>
            <a:off x="5078536" y="3436325"/>
            <a:ext cx="864102" cy="131404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989779C-EC1C-C653-BF87-CED2B62CA341}"/>
              </a:ext>
            </a:extLst>
          </p:cNvPr>
          <p:cNvSpPr txBox="1"/>
          <p:nvPr/>
        </p:nvSpPr>
        <p:spPr>
          <a:xfrm>
            <a:off x="350275" y="1345385"/>
            <a:ext cx="460389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# parameters = {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#     'estimator__</a:t>
            </a:r>
            <a:r>
              <a:rPr lang="en-US" sz="1600" dirty="0" err="1">
                <a:solidFill>
                  <a:schemeClr val="accent2"/>
                </a:solidFill>
              </a:rPr>
              <a:t>n_estimators</a:t>
            </a:r>
            <a:r>
              <a:rPr lang="en-US" sz="1600" dirty="0">
                <a:solidFill>
                  <a:schemeClr val="accent2"/>
                </a:solidFill>
              </a:rPr>
              <a:t>': [ 800, 900, 1000],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#     'estimator__</a:t>
            </a:r>
            <a:r>
              <a:rPr lang="en-US" sz="1600" dirty="0" err="1">
                <a:solidFill>
                  <a:schemeClr val="accent2"/>
                </a:solidFill>
              </a:rPr>
              <a:t>learning_rate</a:t>
            </a:r>
            <a:r>
              <a:rPr lang="en-US" sz="1600" dirty="0">
                <a:solidFill>
                  <a:schemeClr val="accent2"/>
                </a:solidFill>
              </a:rPr>
              <a:t>': [0.1, 0.25, 0.30],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#     'estimator__</a:t>
            </a:r>
            <a:r>
              <a:rPr lang="en-US" sz="1600" dirty="0" err="1">
                <a:solidFill>
                  <a:schemeClr val="accent2"/>
                </a:solidFill>
              </a:rPr>
              <a:t>max_depth</a:t>
            </a:r>
            <a:r>
              <a:rPr lang="en-US" sz="1600" dirty="0">
                <a:solidFill>
                  <a:schemeClr val="accent2"/>
                </a:solidFill>
              </a:rPr>
              <a:t>': [3, 4, 5]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# 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7816F5-B87D-42F3-30B1-E55F58AC1FB2}"/>
              </a:ext>
            </a:extLst>
          </p:cNvPr>
          <p:cNvSpPr txBox="1"/>
          <p:nvPr/>
        </p:nvSpPr>
        <p:spPr>
          <a:xfrm>
            <a:off x="1219062" y="2816468"/>
            <a:ext cx="28562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2"/>
                </a:solidFill>
              </a:rPr>
              <a:t>The best parameters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611838-6B26-9D74-43E6-339A7DEC7068}"/>
              </a:ext>
            </a:extLst>
          </p:cNvPr>
          <p:cNvSpPr txBox="1"/>
          <p:nvPr/>
        </p:nvSpPr>
        <p:spPr>
          <a:xfrm>
            <a:off x="345241" y="3366881"/>
            <a:ext cx="46038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</a:rPr>
              <a:t>{'estimator__</a:t>
            </a:r>
            <a:r>
              <a:rPr lang="en-US" sz="1600" dirty="0" err="1">
                <a:solidFill>
                  <a:schemeClr val="accent2"/>
                </a:solidFill>
              </a:rPr>
              <a:t>learning_rate</a:t>
            </a:r>
            <a:r>
              <a:rPr lang="en-US" sz="1600" dirty="0">
                <a:solidFill>
                  <a:schemeClr val="accent2"/>
                </a:solidFill>
              </a:rPr>
              <a:t>': 0.1, 'estimator__</a:t>
            </a:r>
            <a:r>
              <a:rPr lang="en-US" sz="1600" dirty="0" err="1">
                <a:solidFill>
                  <a:schemeClr val="accent2"/>
                </a:solidFill>
              </a:rPr>
              <a:t>max_depth</a:t>
            </a:r>
            <a:r>
              <a:rPr lang="en-US" sz="1600" dirty="0">
                <a:solidFill>
                  <a:schemeClr val="accent2"/>
                </a:solidFill>
              </a:rPr>
              <a:t>': 3, </a:t>
            </a:r>
          </a:p>
          <a:p>
            <a:r>
              <a:rPr lang="en-US" sz="1600" dirty="0">
                <a:solidFill>
                  <a:schemeClr val="accent2"/>
                </a:solidFill>
              </a:rPr>
              <a:t>'estimator__</a:t>
            </a:r>
            <a:r>
              <a:rPr lang="en-US" sz="1600" dirty="0" err="1">
                <a:solidFill>
                  <a:schemeClr val="accent2"/>
                </a:solidFill>
              </a:rPr>
              <a:t>n_estimators</a:t>
            </a:r>
            <a:r>
              <a:rPr lang="en-US" sz="1600" dirty="0">
                <a:solidFill>
                  <a:schemeClr val="accent2"/>
                </a:solidFill>
              </a:rPr>
              <a:t>': 1000}</a:t>
            </a:r>
          </a:p>
        </p:txBody>
      </p:sp>
    </p:spTree>
    <p:extLst>
      <p:ext uri="{BB962C8B-B14F-4D97-AF65-F5344CB8AC3E}">
        <p14:creationId xmlns:p14="http://schemas.microsoft.com/office/powerpoint/2010/main" val="957894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45"/>
          <p:cNvSpPr txBox="1">
            <a:spLocks noGrp="1"/>
          </p:cNvSpPr>
          <p:nvPr>
            <p:ph type="title"/>
          </p:nvPr>
        </p:nvSpPr>
        <p:spPr>
          <a:xfrm>
            <a:off x="265800" y="86975"/>
            <a:ext cx="7740515" cy="870900"/>
          </a:xfrm>
          <a:prstGeom prst="rect">
            <a:avLst/>
          </a:prstGeom>
        </p:spPr>
        <p:txBody>
          <a:bodyPr spcFirstLastPara="1" wrap="square" lIns="0" tIns="91425" rIns="0" bIns="91425" anchor="ctr" anchorCtr="0"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3200" b="1" kern="100" dirty="0">
                <a:effectLst/>
                <a:latin typeface="Lato" panose="020F0502020204030203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Best parameters for </a:t>
            </a:r>
            <a:r>
              <a:rPr lang="en-US" sz="3200" kern="0" dirty="0">
                <a:solidFill>
                  <a:schemeClr val="accent2"/>
                </a:solidFill>
                <a:effectLst/>
              </a:rPr>
              <a:t>XGBRegressor</a:t>
            </a:r>
            <a:endParaRPr lang="en-US" sz="3200" kern="100" dirty="0">
              <a:effectLst/>
              <a:latin typeface="Lato" panose="020F0502020204030203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EA801F-3A3A-7E07-0E09-4CCB524FF7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1120453"/>
              </p:ext>
            </p:extLst>
          </p:nvPr>
        </p:nvGraphicFramePr>
        <p:xfrm>
          <a:off x="568893" y="1031025"/>
          <a:ext cx="3496572" cy="3317694"/>
        </p:xfrm>
        <a:graphic>
          <a:graphicData uri="http://schemas.openxmlformats.org/drawingml/2006/table">
            <a:tbl>
              <a:tblPr firstRow="1" firstCol="1" bandRow="1">
                <a:tableStyleId>{527E6477-C526-4CE5-AB84-CDAB395D5041}</a:tableStyleId>
              </a:tblPr>
              <a:tblGrid>
                <a:gridCol w="1748286">
                  <a:extLst>
                    <a:ext uri="{9D8B030D-6E8A-4147-A177-3AD203B41FA5}">
                      <a16:colId xmlns:a16="http://schemas.microsoft.com/office/drawing/2014/main" val="3206087664"/>
                    </a:ext>
                  </a:extLst>
                </a:gridCol>
                <a:gridCol w="1748286">
                  <a:extLst>
                    <a:ext uri="{9D8B030D-6E8A-4147-A177-3AD203B41FA5}">
                      <a16:colId xmlns:a16="http://schemas.microsoft.com/office/drawing/2014/main" val="694715075"/>
                    </a:ext>
                  </a:extLst>
                </a:gridCol>
              </a:tblGrid>
              <a:tr h="4897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 err="1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max_depth</a:t>
                      </a:r>
                      <a:endParaRPr lang="en-US" sz="1600" kern="100" dirty="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42" marR="4794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6</a:t>
                      </a:r>
                      <a:endParaRPr lang="en-US" sz="16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42" marR="47942" marT="0" marB="0"/>
                </a:tc>
                <a:extLst>
                  <a:ext uri="{0D108BD9-81ED-4DB2-BD59-A6C34878D82A}">
                    <a16:rowId xmlns:a16="http://schemas.microsoft.com/office/drawing/2014/main" val="804094485"/>
                  </a:ext>
                </a:extLst>
              </a:tr>
              <a:tr h="4621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learning_rate</a:t>
                      </a:r>
                      <a:endParaRPr lang="en-US" sz="16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42" marR="4794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0.1</a:t>
                      </a:r>
                      <a:endParaRPr lang="en-US" sz="16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42" marR="47942" marT="0" marB="0"/>
                </a:tc>
                <a:extLst>
                  <a:ext uri="{0D108BD9-81ED-4DB2-BD59-A6C34878D82A}">
                    <a16:rowId xmlns:a16="http://schemas.microsoft.com/office/drawing/2014/main" val="117565392"/>
                  </a:ext>
                </a:extLst>
              </a:tr>
              <a:tr h="4897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colsample_bytree</a:t>
                      </a:r>
                      <a:endParaRPr lang="en-US" sz="16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42" marR="4794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0.9</a:t>
                      </a:r>
                      <a:endParaRPr lang="en-US" sz="16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42" marR="47942" marT="0" marB="0"/>
                </a:tc>
                <a:extLst>
                  <a:ext uri="{0D108BD9-81ED-4DB2-BD59-A6C34878D82A}">
                    <a16:rowId xmlns:a16="http://schemas.microsoft.com/office/drawing/2014/main" val="3474862075"/>
                  </a:ext>
                </a:extLst>
              </a:tr>
              <a:tr h="4621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reg_alpha</a:t>
                      </a:r>
                      <a:endParaRPr lang="en-US" sz="16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42" marR="4794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5</a:t>
                      </a:r>
                      <a:endParaRPr lang="en-US" sz="16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42" marR="47942" marT="0" marB="0"/>
                </a:tc>
                <a:extLst>
                  <a:ext uri="{0D108BD9-81ED-4DB2-BD59-A6C34878D82A}">
                    <a16:rowId xmlns:a16="http://schemas.microsoft.com/office/drawing/2014/main" val="3528791956"/>
                  </a:ext>
                </a:extLst>
              </a:tr>
              <a:tr h="4897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reg_lambda</a:t>
                      </a:r>
                      <a:endParaRPr lang="en-US" sz="16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42" marR="4794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6</a:t>
                      </a:r>
                      <a:endParaRPr lang="en-US" sz="16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42" marR="47942" marT="0" marB="0"/>
                </a:tc>
                <a:extLst>
                  <a:ext uri="{0D108BD9-81ED-4DB2-BD59-A6C34878D82A}">
                    <a16:rowId xmlns:a16="http://schemas.microsoft.com/office/drawing/2014/main" val="3226264380"/>
                  </a:ext>
                </a:extLst>
              </a:tr>
              <a:tr h="4621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min_child_weight</a:t>
                      </a:r>
                      <a:endParaRPr lang="en-US" sz="16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42" marR="4794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2</a:t>
                      </a:r>
                      <a:endParaRPr lang="en-US" sz="16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42" marR="47942" marT="0" marB="0"/>
                </a:tc>
                <a:extLst>
                  <a:ext uri="{0D108BD9-81ED-4DB2-BD59-A6C34878D82A}">
                    <a16:rowId xmlns:a16="http://schemas.microsoft.com/office/drawing/2014/main" val="2813665339"/>
                  </a:ext>
                </a:extLst>
              </a:tr>
              <a:tr h="46213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n_estimators</a:t>
                      </a:r>
                      <a:endParaRPr lang="en-US" sz="1600" kern="10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42" marR="47942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solidFill>
                            <a:schemeClr val="accent2"/>
                          </a:solidFill>
                          <a:effectLst/>
                          <a:latin typeface="Lato" panose="020F0502020204030203" pitchFamily="34" charset="0"/>
                        </a:rPr>
                        <a:t>1500</a:t>
                      </a:r>
                      <a:endParaRPr lang="en-US" sz="1600" kern="100" dirty="0">
                        <a:solidFill>
                          <a:schemeClr val="accent2"/>
                        </a:solidFill>
                        <a:effectLst/>
                        <a:latin typeface="Lato" panose="020F0502020204030203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7942" marR="47942" marT="0" marB="0"/>
                </a:tc>
                <a:extLst>
                  <a:ext uri="{0D108BD9-81ED-4DB2-BD59-A6C34878D82A}">
                    <a16:rowId xmlns:a16="http://schemas.microsoft.com/office/drawing/2014/main" val="95607246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62D4C509-90C1-0558-7EC7-625002184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288" y="768282"/>
            <a:ext cx="4784651" cy="384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89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393;p77">
            <a:extLst>
              <a:ext uri="{FF2B5EF4-FFF2-40B4-BE49-F238E27FC236}">
                <a16:creationId xmlns:a16="http://schemas.microsoft.com/office/drawing/2014/main" id="{DEE42BF3-82B0-E3D0-8A98-602E423B20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3289" y="2170819"/>
            <a:ext cx="6968599" cy="8018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36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Error Analysis </a:t>
            </a:r>
            <a:endParaRPr sz="36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5C8A7F0-022A-5920-378B-DDE0956AE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204" y="244549"/>
            <a:ext cx="2211368" cy="1473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4982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>
            <a:extLst>
              <a:ext uri="{FF2B5EF4-FFF2-40B4-BE49-F238E27FC236}">
                <a16:creationId xmlns:a16="http://schemas.microsoft.com/office/drawing/2014/main" id="{439F1BE3-8F17-BF85-9DA5-4F62236BEC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1759" y="378303"/>
            <a:ext cx="4835192" cy="4195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84B8A1-0FC6-E2B2-3C16-D6B309AF47C3}"/>
              </a:ext>
            </a:extLst>
          </p:cNvPr>
          <p:cNvSpPr txBox="1"/>
          <p:nvPr/>
        </p:nvSpPr>
        <p:spPr>
          <a:xfrm>
            <a:off x="340244" y="1057737"/>
            <a:ext cx="38915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After trying all the hyperparameter tunings, we were out of trials to optimize our model performance. So we headed into </a:t>
            </a:r>
            <a:r>
              <a:rPr lang="en-US" sz="1400" b="1" i="0" u="none" strike="noStrike" dirty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ERROR ANALYSIS.</a:t>
            </a:r>
            <a:endParaRPr lang="en-US" b="0" dirty="0"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F19C2E-8064-8F5C-03D8-BD0FD3037C39}"/>
              </a:ext>
            </a:extLst>
          </p:cNvPr>
          <p:cNvSpPr txBox="1"/>
          <p:nvPr/>
        </p:nvSpPr>
        <p:spPr>
          <a:xfrm>
            <a:off x="340243" y="2700768"/>
            <a:ext cx="389151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spcBef>
                <a:spcPts val="0"/>
              </a:spcBef>
              <a:spcAft>
                <a:spcPts val="0"/>
              </a:spcAft>
            </a:pPr>
            <a:r>
              <a:rPr lang="en-US" sz="1400" i="0" u="none" strike="noStrike" dirty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notice that deg_Mg_50C has the least correlation and probably we are going to work on it</a:t>
            </a:r>
            <a:endParaRPr lang="en-US" dirty="0">
              <a:effectLst/>
            </a:endParaRPr>
          </a:p>
          <a:p>
            <a:pPr algn="just"/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76943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>
            <a:extLst>
              <a:ext uri="{FF2B5EF4-FFF2-40B4-BE49-F238E27FC236}">
                <a16:creationId xmlns:a16="http://schemas.microsoft.com/office/drawing/2014/main" id="{617F59CF-6583-0EB8-ADEB-5912837F2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89" y="74428"/>
            <a:ext cx="8825024" cy="45175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0B6DE7-6C44-E82A-9AA3-6BF946738A18}"/>
              </a:ext>
            </a:extLst>
          </p:cNvPr>
          <p:cNvSpPr txBox="1"/>
          <p:nvPr/>
        </p:nvSpPr>
        <p:spPr>
          <a:xfrm>
            <a:off x="-53163" y="4697224"/>
            <a:ext cx="925032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200" b="1" i="0" u="none" strike="noStrike" dirty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Surprisingly, as we see : for some reason; </a:t>
            </a:r>
            <a:r>
              <a:rPr lang="en-US" sz="1200" b="1" i="0" u="none" strike="noStrike" dirty="0" err="1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b’s_structure</a:t>
            </a:r>
            <a:r>
              <a:rPr lang="en-US" sz="1200" b="1" i="0" u="none" strike="noStrike" dirty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 have the least importance of the model prediction. Maybe we need to drop some of them. We will see.</a:t>
            </a:r>
            <a:endParaRPr lang="en-US" sz="1200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629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B1BE6AC-8170-EB36-041E-72B9ED7D2F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9475455"/>
              </p:ext>
            </p:extLst>
          </p:nvPr>
        </p:nvGraphicFramePr>
        <p:xfrm>
          <a:off x="795786" y="247723"/>
          <a:ext cx="6561944" cy="3115537"/>
        </p:xfrm>
        <a:graphic>
          <a:graphicData uri="http://schemas.openxmlformats.org/drawingml/2006/table">
            <a:tbl>
              <a:tblPr/>
              <a:tblGrid>
                <a:gridCol w="1640486">
                  <a:extLst>
                    <a:ext uri="{9D8B030D-6E8A-4147-A177-3AD203B41FA5}">
                      <a16:colId xmlns:a16="http://schemas.microsoft.com/office/drawing/2014/main" val="1339371204"/>
                    </a:ext>
                  </a:extLst>
                </a:gridCol>
                <a:gridCol w="1640486">
                  <a:extLst>
                    <a:ext uri="{9D8B030D-6E8A-4147-A177-3AD203B41FA5}">
                      <a16:colId xmlns:a16="http://schemas.microsoft.com/office/drawing/2014/main" val="1678970038"/>
                    </a:ext>
                  </a:extLst>
                </a:gridCol>
                <a:gridCol w="1640486">
                  <a:extLst>
                    <a:ext uri="{9D8B030D-6E8A-4147-A177-3AD203B41FA5}">
                      <a16:colId xmlns:a16="http://schemas.microsoft.com/office/drawing/2014/main" val="2685870274"/>
                    </a:ext>
                  </a:extLst>
                </a:gridCol>
                <a:gridCol w="1640486">
                  <a:extLst>
                    <a:ext uri="{9D8B030D-6E8A-4147-A177-3AD203B41FA5}">
                      <a16:colId xmlns:a16="http://schemas.microsoft.com/office/drawing/2014/main" val="2919951104"/>
                    </a:ext>
                  </a:extLst>
                </a:gridCol>
              </a:tblGrid>
              <a:tr h="59184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id</a:t>
                      </a:r>
                      <a:endParaRPr lang="en-US" sz="1400">
                        <a:effectLst/>
                      </a:endParaRPr>
                    </a:p>
                  </a:txBody>
                  <a:tcPr marL="94897" marR="94897" marT="94897" marB="9489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reactivity</a:t>
                      </a:r>
                      <a:endParaRPr lang="en-US" sz="1400">
                        <a:effectLst/>
                      </a:endParaRPr>
                    </a:p>
                  </a:txBody>
                  <a:tcPr marL="94897" marR="94897" marT="94897" marB="9489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Reactivity predicted</a:t>
                      </a:r>
                      <a:endParaRPr lang="en-US" sz="1400">
                        <a:effectLst/>
                      </a:endParaRPr>
                    </a:p>
                  </a:txBody>
                  <a:tcPr marL="94897" marR="94897" marT="94897" marB="9489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b’s_structure</a:t>
                      </a:r>
                      <a:endParaRPr lang="en-US" sz="1400">
                        <a:effectLst/>
                      </a:endParaRPr>
                    </a:p>
                  </a:txBody>
                  <a:tcPr marL="94897" marR="94897" marT="94897" marB="9489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0696243"/>
                  </a:ext>
                </a:extLst>
              </a:tr>
              <a:tr h="59184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123798</a:t>
                      </a:r>
                      <a:endParaRPr lang="en-US" sz="1400">
                        <a:effectLst/>
                      </a:endParaRPr>
                    </a:p>
                  </a:txBody>
                  <a:tcPr marL="94897" marR="94897" marT="94897" marB="9489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2.3348</a:t>
                      </a:r>
                      <a:endParaRPr lang="en-US" sz="1400">
                        <a:effectLst/>
                      </a:endParaRPr>
                    </a:p>
                  </a:txBody>
                  <a:tcPr marL="94897" marR="94897" marT="94897" marB="9489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1.860940</a:t>
                      </a:r>
                      <a:endParaRPr lang="en-US" sz="1400">
                        <a:effectLst/>
                      </a:endParaRPr>
                    </a:p>
                  </a:txBody>
                  <a:tcPr marL="94897" marR="94897" marT="94897" marB="9489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-1</a:t>
                      </a:r>
                      <a:endParaRPr lang="en-US" sz="1400">
                        <a:effectLst/>
                      </a:endParaRPr>
                    </a:p>
                  </a:txBody>
                  <a:tcPr marL="94897" marR="94897" marT="94897" marB="9489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7128810"/>
                  </a:ext>
                </a:extLst>
              </a:tr>
              <a:tr h="635511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107764</a:t>
                      </a:r>
                      <a:endParaRPr lang="en-US" sz="1400">
                        <a:effectLst/>
                      </a:endParaRPr>
                    </a:p>
                  </a:txBody>
                  <a:tcPr marL="94897" marR="94897" marT="94897" marB="9489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90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0.6137</a:t>
                      </a:r>
                      <a:endParaRPr lang="en-US" sz="1400">
                        <a:effectLst/>
                      </a:endParaRPr>
                    </a:p>
                    <a:p>
                      <a:pPr fontAlgn="ctr"/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56938" marR="56938" marT="56938" marB="56938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90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0.485101</a:t>
                      </a:r>
                      <a:endParaRPr lang="en-US" sz="1400">
                        <a:effectLst/>
                      </a:endParaRPr>
                    </a:p>
                    <a:p>
                      <a:pPr fontAlgn="ctr"/>
                      <a:br>
                        <a:rPr lang="en-US" sz="1400">
                          <a:effectLst/>
                        </a:rPr>
                      </a:br>
                      <a:endParaRPr lang="en-US" sz="1400">
                        <a:effectLst/>
                      </a:endParaRPr>
                    </a:p>
                  </a:txBody>
                  <a:tcPr marL="56938" marR="56938" marT="56938" marB="56938" anchor="ctr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-1</a:t>
                      </a:r>
                      <a:endParaRPr lang="en-US" sz="1400">
                        <a:effectLst/>
                      </a:endParaRPr>
                    </a:p>
                  </a:txBody>
                  <a:tcPr marL="94897" marR="94897" marT="94897" marB="9489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728495"/>
                  </a:ext>
                </a:extLst>
              </a:tr>
              <a:tr h="59184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122605</a:t>
                      </a:r>
                      <a:endParaRPr lang="en-US" sz="1400">
                        <a:effectLst/>
                      </a:endParaRPr>
                    </a:p>
                  </a:txBody>
                  <a:tcPr marL="94897" marR="94897" marT="94897" marB="9489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1.2227</a:t>
                      </a:r>
                      <a:endParaRPr lang="en-US" sz="1400">
                        <a:effectLst/>
                      </a:endParaRPr>
                    </a:p>
                  </a:txBody>
                  <a:tcPr marL="94897" marR="94897" marT="94897" marB="9489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0.931426</a:t>
                      </a:r>
                      <a:endParaRPr lang="en-US" sz="1400">
                        <a:effectLst/>
                      </a:endParaRPr>
                    </a:p>
                  </a:txBody>
                  <a:tcPr marL="94897" marR="94897" marT="94897" marB="9489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-1</a:t>
                      </a:r>
                      <a:endParaRPr lang="en-US" sz="1400">
                        <a:effectLst/>
                      </a:endParaRPr>
                    </a:p>
                  </a:txBody>
                  <a:tcPr marL="94897" marR="94897" marT="94897" marB="9489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6411162"/>
                  </a:ext>
                </a:extLst>
              </a:tr>
              <a:tr h="591849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120551</a:t>
                      </a:r>
                      <a:endParaRPr lang="en-US" sz="1400" dirty="0">
                        <a:effectLst/>
                      </a:endParaRPr>
                    </a:p>
                  </a:txBody>
                  <a:tcPr marL="94897" marR="94897" marT="94897" marB="9489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0.9191</a:t>
                      </a:r>
                      <a:endParaRPr lang="en-US" sz="1400">
                        <a:effectLst/>
                      </a:endParaRPr>
                    </a:p>
                  </a:txBody>
                  <a:tcPr marL="94897" marR="94897" marT="94897" marB="9489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0.713176</a:t>
                      </a:r>
                      <a:endParaRPr lang="en-US" sz="1400">
                        <a:effectLst/>
                      </a:endParaRPr>
                    </a:p>
                  </a:txBody>
                  <a:tcPr marL="94897" marR="94897" marT="94897" marB="9489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-1</a:t>
                      </a:r>
                      <a:endParaRPr lang="en-US" sz="1400" dirty="0">
                        <a:effectLst/>
                      </a:endParaRPr>
                    </a:p>
                  </a:txBody>
                  <a:tcPr marL="94897" marR="94897" marT="94897" marB="94897"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3573813"/>
                  </a:ext>
                </a:extLst>
              </a:tr>
            </a:tbl>
          </a:graphicData>
        </a:graphic>
      </p:graphicFrame>
      <p:sp>
        <p:nvSpPr>
          <p:cNvPr id="3" name="Rectangle 1">
            <a:extLst>
              <a:ext uri="{FF2B5EF4-FFF2-40B4-BE49-F238E27FC236}">
                <a16:creationId xmlns:a16="http://schemas.microsoft.com/office/drawing/2014/main" id="{3DD5A1E2-0783-E1AD-518E-23AF8738A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0322" y="186403"/>
            <a:ext cx="8319587" cy="401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8102FE-B2EE-08D7-EAB1-62E0CD0FAA8B}"/>
              </a:ext>
            </a:extLst>
          </p:cNvPr>
          <p:cNvSpPr txBox="1"/>
          <p:nvPr/>
        </p:nvSpPr>
        <p:spPr>
          <a:xfrm>
            <a:off x="642441" y="3510782"/>
            <a:ext cx="686863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Notice the biggest differences between the actual and the predicted, one pattern we can observe is the existence of number (</a:t>
            </a:r>
            <a:r>
              <a:rPr lang="en-US" sz="1400" b="1" i="0" u="none" strike="noStrike" dirty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-1</a:t>
            </a:r>
            <a:r>
              <a:rPr lang="en-US" sz="1400" b="0" i="0" u="none" strike="noStrike" dirty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) in b’s_structure, that could indicates that the idea of the beginning and the ending of the sequence was not delivered well to the model.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0E6C0931-687B-FC44-C92D-B56E2DBFC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386" y="82159"/>
            <a:ext cx="2211368" cy="1473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41571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3DD5A1E2-0783-E1AD-518E-23AF8738A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0322" y="186403"/>
            <a:ext cx="8319587" cy="401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0E6C0931-687B-FC44-C92D-B56E2DBFC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386" y="82159"/>
            <a:ext cx="2211368" cy="1473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9C873DC-8975-DB65-D332-73759C370B88}"/>
              </a:ext>
            </a:extLst>
          </p:cNvPr>
          <p:cNvSpPr txBox="1"/>
          <p:nvPr/>
        </p:nvSpPr>
        <p:spPr>
          <a:xfrm>
            <a:off x="276446" y="186403"/>
            <a:ext cx="684736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One approach we have done to solve this problem is : 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1- extracting the last 2 numbers of  </a:t>
            </a:r>
            <a:r>
              <a:rPr lang="en-US" sz="1400" b="1" i="0" u="none" strike="noStrike" dirty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id_seqpos, </a:t>
            </a:r>
            <a:r>
              <a:rPr lang="en-US" sz="1400" b="0" i="0" u="none" strike="noStrike" dirty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(represents the position of the sequence).</a:t>
            </a:r>
          </a:p>
          <a:p>
            <a:pPr rtl="0">
              <a:spcBef>
                <a:spcPts val="0"/>
              </a:spcBef>
              <a:spcAft>
                <a:spcPts val="0"/>
              </a:spcAft>
            </a:pPr>
            <a:endParaRPr lang="en-US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1400" b="0" i="0" u="none" strike="noStrike" dirty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2- dropping </a:t>
            </a:r>
            <a:r>
              <a:rPr lang="en-US" sz="1200" b="1" i="0" u="none" strike="noStrike" dirty="0"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b5_structure, b4_structure and b3_structure </a:t>
            </a:r>
            <a:r>
              <a:rPr lang="en-US" sz="1400" b="0" i="0" u="none" strike="noStrike" dirty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as they are the less importance</a:t>
            </a:r>
            <a:endParaRPr lang="en-US" b="0" dirty="0">
              <a:effectLst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501672C2-9180-CB26-CA93-7CA69B0A1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812" y="2101191"/>
            <a:ext cx="1952625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>
            <a:extLst>
              <a:ext uri="{FF2B5EF4-FFF2-40B4-BE49-F238E27FC236}">
                <a16:creationId xmlns:a16="http://schemas.microsoft.com/office/drawing/2014/main" id="{F69858FC-CDC3-4C99-EAF0-485F41218B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6004" y="2101191"/>
            <a:ext cx="106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452ACD-9D50-44B5-4C2C-2D327EED593D}"/>
              </a:ext>
            </a:extLst>
          </p:cNvPr>
          <p:cNvSpPr txBox="1"/>
          <p:nvPr/>
        </p:nvSpPr>
        <p:spPr>
          <a:xfrm>
            <a:off x="1180214" y="4218433"/>
            <a:ext cx="15098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before</a:t>
            </a:r>
            <a:endParaRPr lang="en-US" sz="1800" b="0" dirty="0"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F95051-9696-2A5C-D835-7038B10FE559}"/>
              </a:ext>
            </a:extLst>
          </p:cNvPr>
          <p:cNvSpPr txBox="1"/>
          <p:nvPr/>
        </p:nvSpPr>
        <p:spPr>
          <a:xfrm>
            <a:off x="5866682" y="4196716"/>
            <a:ext cx="731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1800" b="0" i="0" u="none" strike="noStrike" dirty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after</a:t>
            </a:r>
            <a:endParaRPr lang="en-US" sz="1800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FFB72459-2A08-3846-FA20-9B06953B0804}"/>
              </a:ext>
            </a:extLst>
          </p:cNvPr>
          <p:cNvSpPr/>
          <p:nvPr/>
        </p:nvSpPr>
        <p:spPr>
          <a:xfrm>
            <a:off x="3444838" y="2785730"/>
            <a:ext cx="1414130" cy="5709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926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393;p77">
            <a:extLst>
              <a:ext uri="{FF2B5EF4-FFF2-40B4-BE49-F238E27FC236}">
                <a16:creationId xmlns:a16="http://schemas.microsoft.com/office/drawing/2014/main" id="{DEE42BF3-82B0-E3D0-8A98-602E423B20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17563" y="136628"/>
            <a:ext cx="3043772" cy="8399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4400" b="0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Final Result</a:t>
            </a:r>
            <a:endParaRPr sz="44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5C8A7F0-022A-5920-378B-DDE0956AE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204" y="244549"/>
            <a:ext cx="2211368" cy="1473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385128E-561C-8CF2-A191-422C7E364CDF}"/>
              </a:ext>
            </a:extLst>
          </p:cNvPr>
          <p:cNvSpPr txBox="1"/>
          <p:nvPr/>
        </p:nvSpPr>
        <p:spPr>
          <a:xfrm>
            <a:off x="343420" y="1708651"/>
            <a:ext cx="74215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US" sz="2000" b="0" i="0" u="none" strike="noStrike" dirty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Our error decreased from 0.386 to </a:t>
            </a:r>
            <a:r>
              <a:rPr lang="en-US" sz="2000" b="1" i="0" u="none" strike="noStrike" dirty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0.382 </a:t>
            </a:r>
            <a:r>
              <a:rPr lang="en-US" sz="2000" b="0" i="0" u="none" strike="noStrike" dirty="0">
                <a:solidFill>
                  <a:srgbClr val="FFFFFF"/>
                </a:solidFill>
                <a:effectLst/>
                <a:latin typeface="Montserrat" panose="00000500000000000000" pitchFamily="2" charset="0"/>
              </a:rPr>
              <a:t>on Leaderboard</a:t>
            </a:r>
            <a:endParaRPr lang="en-US" sz="2000" b="0" dirty="0">
              <a:effectLst/>
            </a:endParaRPr>
          </a:p>
        </p:txBody>
      </p:sp>
      <p:grpSp>
        <p:nvGrpSpPr>
          <p:cNvPr id="14" name="Google Shape;6904;p89">
            <a:extLst>
              <a:ext uri="{FF2B5EF4-FFF2-40B4-BE49-F238E27FC236}">
                <a16:creationId xmlns:a16="http://schemas.microsoft.com/office/drawing/2014/main" id="{A32C6973-C2CE-CE5E-725B-DABE5CE91712}"/>
              </a:ext>
            </a:extLst>
          </p:cNvPr>
          <p:cNvGrpSpPr/>
          <p:nvPr/>
        </p:nvGrpSpPr>
        <p:grpSpPr>
          <a:xfrm>
            <a:off x="3528596" y="2390571"/>
            <a:ext cx="2086807" cy="2135695"/>
            <a:chOff x="-57959425" y="3982600"/>
            <a:chExt cx="318225" cy="319025"/>
          </a:xfrm>
        </p:grpSpPr>
        <p:sp>
          <p:nvSpPr>
            <p:cNvPr id="15" name="Google Shape;6905;p89">
              <a:extLst>
                <a:ext uri="{FF2B5EF4-FFF2-40B4-BE49-F238E27FC236}">
                  <a16:creationId xmlns:a16="http://schemas.microsoft.com/office/drawing/2014/main" id="{73F20EA5-6573-725E-110F-06AA2A090C40}"/>
                </a:ext>
              </a:extLst>
            </p:cNvPr>
            <p:cNvSpPr/>
            <p:nvPr/>
          </p:nvSpPr>
          <p:spPr>
            <a:xfrm>
              <a:off x="-57771975" y="4150375"/>
              <a:ext cx="17350" cy="18125"/>
            </a:xfrm>
            <a:custGeom>
              <a:avLst/>
              <a:gdLst/>
              <a:ahLst/>
              <a:cxnLst/>
              <a:rect l="l" t="t" r="r" b="b"/>
              <a:pathLst>
                <a:path w="694" h="725" extrusionOk="0">
                  <a:moveTo>
                    <a:pt x="347" y="0"/>
                  </a:moveTo>
                  <a:cubicBezTo>
                    <a:pt x="158" y="0"/>
                    <a:pt x="1" y="189"/>
                    <a:pt x="1" y="378"/>
                  </a:cubicBezTo>
                  <a:cubicBezTo>
                    <a:pt x="1" y="567"/>
                    <a:pt x="158" y="725"/>
                    <a:pt x="347" y="725"/>
                  </a:cubicBezTo>
                  <a:cubicBezTo>
                    <a:pt x="536" y="725"/>
                    <a:pt x="694" y="567"/>
                    <a:pt x="694" y="378"/>
                  </a:cubicBezTo>
                  <a:cubicBezTo>
                    <a:pt x="694" y="189"/>
                    <a:pt x="536" y="0"/>
                    <a:pt x="3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6906;p89">
              <a:extLst>
                <a:ext uri="{FF2B5EF4-FFF2-40B4-BE49-F238E27FC236}">
                  <a16:creationId xmlns:a16="http://schemas.microsoft.com/office/drawing/2014/main" id="{7F49E5D1-E90C-B305-6C3E-B1D6A107AE6B}"/>
                </a:ext>
              </a:extLst>
            </p:cNvPr>
            <p:cNvSpPr/>
            <p:nvPr/>
          </p:nvSpPr>
          <p:spPr>
            <a:xfrm>
              <a:off x="-57959425" y="3982600"/>
              <a:ext cx="318225" cy="130775"/>
            </a:xfrm>
            <a:custGeom>
              <a:avLst/>
              <a:gdLst/>
              <a:ahLst/>
              <a:cxnLst/>
              <a:rect l="l" t="t" r="r" b="b"/>
              <a:pathLst>
                <a:path w="12729" h="5231" extrusionOk="0">
                  <a:moveTo>
                    <a:pt x="7081" y="1521"/>
                  </a:moveTo>
                  <a:cubicBezTo>
                    <a:pt x="7176" y="1521"/>
                    <a:pt x="7262" y="1560"/>
                    <a:pt x="7310" y="1639"/>
                  </a:cubicBezTo>
                  <a:cubicBezTo>
                    <a:pt x="7436" y="1796"/>
                    <a:pt x="7467" y="2048"/>
                    <a:pt x="7310" y="2174"/>
                  </a:cubicBezTo>
                  <a:lnTo>
                    <a:pt x="6837" y="2647"/>
                  </a:lnTo>
                  <a:lnTo>
                    <a:pt x="7310" y="3120"/>
                  </a:lnTo>
                  <a:cubicBezTo>
                    <a:pt x="7467" y="3246"/>
                    <a:pt x="7467" y="3498"/>
                    <a:pt x="7310" y="3624"/>
                  </a:cubicBezTo>
                  <a:cubicBezTo>
                    <a:pt x="7231" y="3702"/>
                    <a:pt x="7136" y="3742"/>
                    <a:pt x="7046" y="3742"/>
                  </a:cubicBezTo>
                  <a:cubicBezTo>
                    <a:pt x="6955" y="3742"/>
                    <a:pt x="6869" y="3702"/>
                    <a:pt x="6806" y="3624"/>
                  </a:cubicBezTo>
                  <a:lnTo>
                    <a:pt x="6333" y="3151"/>
                  </a:lnTo>
                  <a:lnTo>
                    <a:pt x="5860" y="3624"/>
                  </a:lnTo>
                  <a:cubicBezTo>
                    <a:pt x="5782" y="3702"/>
                    <a:pt x="5687" y="3742"/>
                    <a:pt x="5597" y="3742"/>
                  </a:cubicBezTo>
                  <a:cubicBezTo>
                    <a:pt x="5506" y="3742"/>
                    <a:pt x="5419" y="3702"/>
                    <a:pt x="5356" y="3624"/>
                  </a:cubicBezTo>
                  <a:cubicBezTo>
                    <a:pt x="5199" y="3466"/>
                    <a:pt x="5199" y="3214"/>
                    <a:pt x="5356" y="3120"/>
                  </a:cubicBezTo>
                  <a:lnTo>
                    <a:pt x="5829" y="2647"/>
                  </a:lnTo>
                  <a:lnTo>
                    <a:pt x="5356" y="2174"/>
                  </a:lnTo>
                  <a:cubicBezTo>
                    <a:pt x="5199" y="2017"/>
                    <a:pt x="5199" y="1765"/>
                    <a:pt x="5356" y="1639"/>
                  </a:cubicBezTo>
                  <a:cubicBezTo>
                    <a:pt x="5435" y="1560"/>
                    <a:pt x="5530" y="1521"/>
                    <a:pt x="5620" y="1521"/>
                  </a:cubicBezTo>
                  <a:cubicBezTo>
                    <a:pt x="5711" y="1521"/>
                    <a:pt x="5797" y="1560"/>
                    <a:pt x="5860" y="1639"/>
                  </a:cubicBezTo>
                  <a:lnTo>
                    <a:pt x="6333" y="2111"/>
                  </a:lnTo>
                  <a:lnTo>
                    <a:pt x="6806" y="1639"/>
                  </a:lnTo>
                  <a:cubicBezTo>
                    <a:pt x="6884" y="1560"/>
                    <a:pt x="6987" y="1521"/>
                    <a:pt x="7081" y="1521"/>
                  </a:cubicBezTo>
                  <a:close/>
                  <a:moveTo>
                    <a:pt x="6333" y="1"/>
                  </a:moveTo>
                  <a:cubicBezTo>
                    <a:pt x="5388" y="1"/>
                    <a:pt x="4506" y="379"/>
                    <a:pt x="3907" y="1072"/>
                  </a:cubicBezTo>
                  <a:cubicBezTo>
                    <a:pt x="3389" y="1628"/>
                    <a:pt x="2673" y="1927"/>
                    <a:pt x="1944" y="1927"/>
                  </a:cubicBezTo>
                  <a:cubicBezTo>
                    <a:pt x="1474" y="1927"/>
                    <a:pt x="999" y="1803"/>
                    <a:pt x="568" y="1544"/>
                  </a:cubicBezTo>
                  <a:cubicBezTo>
                    <a:pt x="505" y="1505"/>
                    <a:pt x="438" y="1487"/>
                    <a:pt x="373" y="1487"/>
                  </a:cubicBezTo>
                  <a:cubicBezTo>
                    <a:pt x="178" y="1487"/>
                    <a:pt x="1" y="1647"/>
                    <a:pt x="1" y="1859"/>
                  </a:cubicBezTo>
                  <a:lnTo>
                    <a:pt x="1" y="2426"/>
                  </a:lnTo>
                  <a:cubicBezTo>
                    <a:pt x="1" y="3970"/>
                    <a:pt x="1261" y="5230"/>
                    <a:pt x="2804" y="5230"/>
                  </a:cubicBezTo>
                  <a:cubicBezTo>
                    <a:pt x="3624" y="5230"/>
                    <a:pt x="4096" y="4915"/>
                    <a:pt x="4884" y="4537"/>
                  </a:cubicBezTo>
                  <a:cubicBezTo>
                    <a:pt x="4915" y="4474"/>
                    <a:pt x="5010" y="4474"/>
                    <a:pt x="5041" y="4474"/>
                  </a:cubicBezTo>
                  <a:lnTo>
                    <a:pt x="7688" y="4474"/>
                  </a:lnTo>
                  <a:cubicBezTo>
                    <a:pt x="7719" y="4474"/>
                    <a:pt x="7782" y="4474"/>
                    <a:pt x="7845" y="4537"/>
                  </a:cubicBezTo>
                  <a:cubicBezTo>
                    <a:pt x="8664" y="4915"/>
                    <a:pt x="9105" y="5230"/>
                    <a:pt x="9925" y="5230"/>
                  </a:cubicBezTo>
                  <a:cubicBezTo>
                    <a:pt x="11468" y="5230"/>
                    <a:pt x="12729" y="3970"/>
                    <a:pt x="12729" y="2426"/>
                  </a:cubicBezTo>
                  <a:lnTo>
                    <a:pt x="12729" y="1891"/>
                  </a:lnTo>
                  <a:cubicBezTo>
                    <a:pt x="12729" y="1698"/>
                    <a:pt x="12543" y="1523"/>
                    <a:pt x="12329" y="1523"/>
                  </a:cubicBezTo>
                  <a:cubicBezTo>
                    <a:pt x="12264" y="1523"/>
                    <a:pt x="12196" y="1539"/>
                    <a:pt x="12130" y="1576"/>
                  </a:cubicBezTo>
                  <a:cubicBezTo>
                    <a:pt x="11708" y="1824"/>
                    <a:pt x="11233" y="1945"/>
                    <a:pt x="10762" y="1945"/>
                  </a:cubicBezTo>
                  <a:cubicBezTo>
                    <a:pt x="10036" y="1945"/>
                    <a:pt x="9319" y="1657"/>
                    <a:pt x="8822" y="1103"/>
                  </a:cubicBezTo>
                  <a:cubicBezTo>
                    <a:pt x="8192" y="442"/>
                    <a:pt x="7310" y="1"/>
                    <a:pt x="6333" y="1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6907;p89">
              <a:extLst>
                <a:ext uri="{FF2B5EF4-FFF2-40B4-BE49-F238E27FC236}">
                  <a16:creationId xmlns:a16="http://schemas.microsoft.com/office/drawing/2014/main" id="{C99CE391-4402-7262-7799-92570BC87761}"/>
                </a:ext>
              </a:extLst>
            </p:cNvPr>
            <p:cNvSpPr/>
            <p:nvPr/>
          </p:nvSpPr>
          <p:spPr>
            <a:xfrm>
              <a:off x="-57903500" y="4125950"/>
              <a:ext cx="204800" cy="175675"/>
            </a:xfrm>
            <a:custGeom>
              <a:avLst/>
              <a:gdLst/>
              <a:ahLst/>
              <a:cxnLst/>
              <a:rect l="l" t="t" r="r" b="b"/>
              <a:pathLst>
                <a:path w="8192" h="7027" extrusionOk="0">
                  <a:moveTo>
                    <a:pt x="2615" y="1009"/>
                  </a:moveTo>
                  <a:cubicBezTo>
                    <a:pt x="2804" y="1009"/>
                    <a:pt x="2962" y="1166"/>
                    <a:pt x="2962" y="1355"/>
                  </a:cubicBezTo>
                  <a:cubicBezTo>
                    <a:pt x="2962" y="1544"/>
                    <a:pt x="2804" y="1702"/>
                    <a:pt x="2615" y="1702"/>
                  </a:cubicBezTo>
                  <a:cubicBezTo>
                    <a:pt x="2395" y="1702"/>
                    <a:pt x="2237" y="1576"/>
                    <a:pt x="2237" y="1355"/>
                  </a:cubicBezTo>
                  <a:cubicBezTo>
                    <a:pt x="2237" y="1166"/>
                    <a:pt x="2395" y="1009"/>
                    <a:pt x="2615" y="1009"/>
                  </a:cubicBezTo>
                  <a:close/>
                  <a:moveTo>
                    <a:pt x="5163" y="3600"/>
                  </a:moveTo>
                  <a:cubicBezTo>
                    <a:pt x="5262" y="3600"/>
                    <a:pt x="5356" y="3639"/>
                    <a:pt x="5419" y="3718"/>
                  </a:cubicBezTo>
                  <a:cubicBezTo>
                    <a:pt x="5608" y="3844"/>
                    <a:pt x="5608" y="4065"/>
                    <a:pt x="5451" y="4222"/>
                  </a:cubicBezTo>
                  <a:cubicBezTo>
                    <a:pt x="5073" y="4569"/>
                    <a:pt x="4600" y="4789"/>
                    <a:pt x="4096" y="4789"/>
                  </a:cubicBezTo>
                  <a:cubicBezTo>
                    <a:pt x="3592" y="4789"/>
                    <a:pt x="3119" y="4569"/>
                    <a:pt x="2804" y="4222"/>
                  </a:cubicBezTo>
                  <a:cubicBezTo>
                    <a:pt x="2647" y="4065"/>
                    <a:pt x="2647" y="3844"/>
                    <a:pt x="2804" y="3718"/>
                  </a:cubicBezTo>
                  <a:cubicBezTo>
                    <a:pt x="2883" y="3639"/>
                    <a:pt x="2978" y="3600"/>
                    <a:pt x="3068" y="3600"/>
                  </a:cubicBezTo>
                  <a:cubicBezTo>
                    <a:pt x="3159" y="3600"/>
                    <a:pt x="3245" y="3639"/>
                    <a:pt x="3308" y="3718"/>
                  </a:cubicBezTo>
                  <a:cubicBezTo>
                    <a:pt x="3529" y="3939"/>
                    <a:pt x="3812" y="4049"/>
                    <a:pt x="4096" y="4049"/>
                  </a:cubicBezTo>
                  <a:cubicBezTo>
                    <a:pt x="4380" y="4049"/>
                    <a:pt x="4663" y="3939"/>
                    <a:pt x="4884" y="3718"/>
                  </a:cubicBezTo>
                  <a:cubicBezTo>
                    <a:pt x="4962" y="3639"/>
                    <a:pt x="5065" y="3600"/>
                    <a:pt x="5163" y="3600"/>
                  </a:cubicBezTo>
                  <a:close/>
                  <a:moveTo>
                    <a:pt x="1828" y="0"/>
                  </a:moveTo>
                  <a:cubicBezTo>
                    <a:pt x="1418" y="158"/>
                    <a:pt x="977" y="253"/>
                    <a:pt x="567" y="253"/>
                  </a:cubicBezTo>
                  <a:cubicBezTo>
                    <a:pt x="347" y="253"/>
                    <a:pt x="221" y="221"/>
                    <a:pt x="0" y="221"/>
                  </a:cubicBezTo>
                  <a:lnTo>
                    <a:pt x="0" y="2899"/>
                  </a:lnTo>
                  <a:cubicBezTo>
                    <a:pt x="0" y="5136"/>
                    <a:pt x="1859" y="7026"/>
                    <a:pt x="4096" y="7026"/>
                  </a:cubicBezTo>
                  <a:cubicBezTo>
                    <a:pt x="6270" y="7026"/>
                    <a:pt x="8097" y="5262"/>
                    <a:pt x="8192" y="3119"/>
                  </a:cubicBezTo>
                  <a:lnTo>
                    <a:pt x="6333" y="2206"/>
                  </a:lnTo>
                  <a:cubicBezTo>
                    <a:pt x="6144" y="2363"/>
                    <a:pt x="5860" y="2489"/>
                    <a:pt x="5608" y="2489"/>
                  </a:cubicBezTo>
                  <a:cubicBezTo>
                    <a:pt x="4978" y="2489"/>
                    <a:pt x="4474" y="1985"/>
                    <a:pt x="4506" y="1324"/>
                  </a:cubicBezTo>
                  <a:lnTo>
                    <a:pt x="1828" y="0"/>
                  </a:ln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6908;p89">
              <a:extLst>
                <a:ext uri="{FF2B5EF4-FFF2-40B4-BE49-F238E27FC236}">
                  <a16:creationId xmlns:a16="http://schemas.microsoft.com/office/drawing/2014/main" id="{5B8FF63E-9FD0-708D-785B-EC51EE102A73}"/>
                </a:ext>
              </a:extLst>
            </p:cNvPr>
            <p:cNvSpPr/>
            <p:nvPr/>
          </p:nvSpPr>
          <p:spPr>
            <a:xfrm>
              <a:off x="-57835775" y="4113350"/>
              <a:ext cx="138650" cy="70125"/>
            </a:xfrm>
            <a:custGeom>
              <a:avLst/>
              <a:gdLst/>
              <a:ahLst/>
              <a:cxnLst/>
              <a:rect l="l" t="t" r="r" b="b"/>
              <a:pathLst>
                <a:path w="5546" h="2805" extrusionOk="0">
                  <a:moveTo>
                    <a:pt x="221" y="0"/>
                  </a:moveTo>
                  <a:lnTo>
                    <a:pt x="1" y="95"/>
                  </a:lnTo>
                  <a:lnTo>
                    <a:pt x="2112" y="1103"/>
                  </a:lnTo>
                  <a:cubicBezTo>
                    <a:pt x="2301" y="883"/>
                    <a:pt x="2616" y="757"/>
                    <a:pt x="2931" y="757"/>
                  </a:cubicBezTo>
                  <a:cubicBezTo>
                    <a:pt x="3592" y="757"/>
                    <a:pt x="4159" y="1355"/>
                    <a:pt x="4033" y="2048"/>
                  </a:cubicBezTo>
                  <a:lnTo>
                    <a:pt x="5546" y="2804"/>
                  </a:lnTo>
                  <a:lnTo>
                    <a:pt x="5546" y="725"/>
                  </a:lnTo>
                  <a:cubicBezTo>
                    <a:pt x="5325" y="725"/>
                    <a:pt x="5136" y="757"/>
                    <a:pt x="4979" y="757"/>
                  </a:cubicBezTo>
                  <a:cubicBezTo>
                    <a:pt x="4033" y="757"/>
                    <a:pt x="3435" y="410"/>
                    <a:pt x="2647" y="0"/>
                  </a:cubicBezTo>
                  <a:close/>
                </a:path>
              </a:pathLst>
            </a:custGeom>
            <a:solidFill>
              <a:srgbClr val="5F7D9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41697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393;p77">
            <a:extLst>
              <a:ext uri="{FF2B5EF4-FFF2-40B4-BE49-F238E27FC236}">
                <a16:creationId xmlns:a16="http://schemas.microsoft.com/office/drawing/2014/main" id="{DEE42BF3-82B0-E3D0-8A98-602E423B20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661859" y="244549"/>
            <a:ext cx="4565640" cy="6893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2400" b="1" i="0" u="none" strike="noStrike" dirty="0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Conclusion and Future Works</a:t>
            </a:r>
            <a:endParaRPr sz="24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05C8A7F0-022A-5920-378B-DDE0956AE2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204" y="244549"/>
            <a:ext cx="2211368" cy="1473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87777AF-42E5-6507-CBC7-AE1F4F72DB64}"/>
              </a:ext>
            </a:extLst>
          </p:cNvPr>
          <p:cNvSpPr txBox="1"/>
          <p:nvPr/>
        </p:nvSpPr>
        <p:spPr>
          <a:xfrm>
            <a:off x="499832" y="1430920"/>
            <a:ext cx="6953591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2"/>
                </a:solidFill>
                <a:latin typeface="Lato" panose="020F0502020204030203" pitchFamily="34" charset="0"/>
              </a:rPr>
              <a:t>mRNA vaccines, the </a:t>
            </a:r>
            <a:r>
              <a:rPr lang="en-US" sz="1600" b="1" dirty="0">
                <a:solidFill>
                  <a:schemeClr val="accent2"/>
                </a:solidFill>
                <a:latin typeface="Lato" panose="020F0502020204030203" pitchFamily="34" charset="0"/>
              </a:rPr>
              <a:t>fastest</a:t>
            </a:r>
            <a:r>
              <a:rPr lang="en-US" sz="1600" dirty="0">
                <a:solidFill>
                  <a:schemeClr val="accent2"/>
                </a:solidFill>
                <a:latin typeface="Lato" panose="020F0502020204030203" pitchFamily="34" charset="0"/>
              </a:rPr>
              <a:t> COVID-19 candidates, face degradation issues. Our study predicted degradation-prone segments using sequence models. We used </a:t>
            </a:r>
            <a:r>
              <a:rPr lang="en-US" sz="1600" b="1" dirty="0">
                <a:solidFill>
                  <a:schemeClr val="accent2"/>
                </a:solidFill>
                <a:latin typeface="Lato" panose="020F0502020204030203" pitchFamily="34" charset="0"/>
              </a:rPr>
              <a:t>hand</a:t>
            </a:r>
            <a:r>
              <a:rPr lang="en-US" sz="1600" dirty="0">
                <a:solidFill>
                  <a:schemeClr val="accent2"/>
                </a:solidFill>
                <a:latin typeface="Lato" panose="020F0502020204030203" pitchFamily="34" charset="0"/>
              </a:rPr>
              <a:t> and label encoding methods and found the first one performed better, achieving a 0.382 score via MCRMSE on Leaderboard. Error analysis needs more time and work to find </a:t>
            </a:r>
            <a:r>
              <a:rPr lang="en-US" sz="1600" b="1" dirty="0">
                <a:solidFill>
                  <a:schemeClr val="accent2"/>
                </a:solidFill>
                <a:latin typeface="Lato" panose="020F0502020204030203" pitchFamily="34" charset="0"/>
              </a:rPr>
              <a:t>more hidden patterns </a:t>
            </a:r>
            <a:r>
              <a:rPr lang="en-US" sz="1600" dirty="0">
                <a:solidFill>
                  <a:schemeClr val="accent2"/>
                </a:solidFill>
                <a:latin typeface="Lato" panose="020F0502020204030203" pitchFamily="34" charset="0"/>
              </a:rPr>
              <a:t>and solve the </a:t>
            </a:r>
            <a:r>
              <a:rPr lang="en-US" sz="1600" b="1" dirty="0">
                <a:solidFill>
                  <a:schemeClr val="accent2"/>
                </a:solidFill>
                <a:latin typeface="Lato" panose="020F0502020204030203" pitchFamily="34" charset="0"/>
              </a:rPr>
              <a:t>deg_Mg_pH10 </a:t>
            </a:r>
            <a:r>
              <a:rPr lang="en-US" sz="1600" dirty="0">
                <a:solidFill>
                  <a:schemeClr val="accent2"/>
                </a:solidFill>
                <a:latin typeface="Lato" panose="020F0502020204030203" pitchFamily="34" charset="0"/>
              </a:rPr>
              <a:t>correlation problem .</a:t>
            </a:r>
          </a:p>
          <a:p>
            <a:endParaRPr lang="en-US" sz="1600" dirty="0">
              <a:solidFill>
                <a:schemeClr val="accent2"/>
              </a:solidFill>
              <a:latin typeface="Lato" panose="020F0502020204030203" pitchFamily="34" charset="0"/>
            </a:endParaRPr>
          </a:p>
          <a:p>
            <a:r>
              <a:rPr lang="en-US" sz="1600" dirty="0">
                <a:solidFill>
                  <a:schemeClr val="accent2"/>
                </a:solidFill>
                <a:latin typeface="Lato" panose="020F0502020204030203" pitchFamily="34" charset="0"/>
              </a:rPr>
              <a:t>Our future recommendation involves a </a:t>
            </a:r>
            <a:r>
              <a:rPr lang="en-US" sz="1600" b="1" dirty="0">
                <a:solidFill>
                  <a:schemeClr val="accent2"/>
                </a:solidFill>
                <a:latin typeface="Lato" panose="020F0502020204030203" pitchFamily="34" charset="0"/>
              </a:rPr>
              <a:t>hybrid</a:t>
            </a:r>
            <a:r>
              <a:rPr lang="en-US" sz="1600" dirty="0">
                <a:solidFill>
                  <a:schemeClr val="accent2"/>
                </a:solidFill>
                <a:latin typeface="Lato" panose="020F0502020204030203" pitchFamily="34" charset="0"/>
              </a:rPr>
              <a:t> model with CNNs and sequence models, potentially improved by integrating graph convolutional networks (GCNs) for deeper evaluation of mRNA degradation.</a:t>
            </a:r>
          </a:p>
        </p:txBody>
      </p:sp>
    </p:spTree>
    <p:extLst>
      <p:ext uri="{BB962C8B-B14F-4D97-AF65-F5344CB8AC3E}">
        <p14:creationId xmlns:p14="http://schemas.microsoft.com/office/powerpoint/2010/main" val="11908329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393;p77">
            <a:extLst>
              <a:ext uri="{FF2B5EF4-FFF2-40B4-BE49-F238E27FC236}">
                <a16:creationId xmlns:a16="http://schemas.microsoft.com/office/drawing/2014/main" id="{DEE42BF3-82B0-E3D0-8A98-602E423B20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38893" y="0"/>
            <a:ext cx="2966585" cy="8018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3600" b="1" i="0" u="none" strike="noStrike" dirty="0" err="1">
                <a:solidFill>
                  <a:srgbClr val="FFFFFF"/>
                </a:solidFill>
                <a:effectLst/>
                <a:latin typeface="Lato" panose="020F0502020204030203" pitchFamily="34" charset="0"/>
              </a:rPr>
              <a:t>Referances</a:t>
            </a:r>
            <a:endParaRPr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77FC1B-0A05-5CE6-B19B-E9B64A0A1BAF}"/>
              </a:ext>
            </a:extLst>
          </p:cNvPr>
          <p:cNvSpPr txBox="1"/>
          <p:nvPr/>
        </p:nvSpPr>
        <p:spPr>
          <a:xfrm>
            <a:off x="138274" y="950717"/>
            <a:ext cx="8867451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chemeClr val="accent2"/>
                </a:solidFill>
              </a:rPr>
              <a:t>1- He, S., Gao, B., </a:t>
            </a:r>
            <a:r>
              <a:rPr lang="en-US" sz="1200" dirty="0" err="1">
                <a:solidFill>
                  <a:schemeClr val="accent2"/>
                </a:solidFill>
              </a:rPr>
              <a:t>Sabnis</a:t>
            </a:r>
            <a:r>
              <a:rPr lang="en-US" sz="1200" dirty="0">
                <a:solidFill>
                  <a:schemeClr val="accent2"/>
                </a:solidFill>
              </a:rPr>
              <a:t>, R., &amp; Sun, Q. (2023). </a:t>
            </a:r>
            <a:r>
              <a:rPr lang="en-US" sz="1200" dirty="0" err="1">
                <a:solidFill>
                  <a:schemeClr val="accent2"/>
                </a:solidFill>
              </a:rPr>
              <a:t>RNAdegformer</a:t>
            </a:r>
            <a:r>
              <a:rPr lang="en-US" sz="1200" dirty="0">
                <a:solidFill>
                  <a:schemeClr val="accent2"/>
                </a:solidFill>
              </a:rPr>
              <a:t>: accurate prediction of mRNA degradation at nucleotide resolution with deep learning. Briefings in Bioinformatics, 24(1), bbac581.</a:t>
            </a:r>
          </a:p>
          <a:p>
            <a:endParaRPr lang="en-US" sz="1200" dirty="0">
              <a:solidFill>
                <a:schemeClr val="accent2"/>
              </a:solidFill>
            </a:endParaRPr>
          </a:p>
          <a:p>
            <a:r>
              <a:rPr lang="en-US" sz="1200" dirty="0">
                <a:solidFill>
                  <a:schemeClr val="accent2"/>
                </a:solidFill>
              </a:rPr>
              <a:t>2- </a:t>
            </a:r>
            <a:r>
              <a:rPr lang="en-US" sz="1200" dirty="0" err="1">
                <a:solidFill>
                  <a:schemeClr val="accent2"/>
                </a:solidFill>
              </a:rPr>
              <a:t>Chze</a:t>
            </a:r>
            <a:r>
              <a:rPr lang="en-US" sz="1200" dirty="0">
                <a:solidFill>
                  <a:schemeClr val="accent2"/>
                </a:solidFill>
              </a:rPr>
              <a:t>, O. N., &amp; Abdullah, A. A. (2022, November). COVID-19 mRNA Vaccine Degradation Prediction By Using Deep Learning Algorithms. In 2022 International Conference on Innovation and Intelligence for Informatics, Computing, and Technologies (3ICT) (pp. 444-450). IEEE.</a:t>
            </a:r>
          </a:p>
          <a:p>
            <a:endParaRPr lang="en-US" sz="1200" dirty="0">
              <a:solidFill>
                <a:schemeClr val="accent2"/>
              </a:solidFill>
            </a:endParaRPr>
          </a:p>
          <a:p>
            <a:r>
              <a:rPr lang="en-US" sz="1200" dirty="0">
                <a:solidFill>
                  <a:schemeClr val="accent2"/>
                </a:solidFill>
              </a:rPr>
              <a:t>3- </a:t>
            </a:r>
            <a:r>
              <a:rPr lang="en-US" sz="1200" dirty="0" err="1">
                <a:solidFill>
                  <a:schemeClr val="accent2"/>
                </a:solidFill>
              </a:rPr>
              <a:t>Wayment</a:t>
            </a:r>
            <a:r>
              <a:rPr lang="en-US" sz="1200" dirty="0">
                <a:solidFill>
                  <a:schemeClr val="accent2"/>
                </a:solidFill>
              </a:rPr>
              <a:t>-Steele, H. K., </a:t>
            </a:r>
            <a:r>
              <a:rPr lang="en-US" sz="1200" dirty="0" err="1">
                <a:solidFill>
                  <a:schemeClr val="accent2"/>
                </a:solidFill>
              </a:rPr>
              <a:t>Kladwang</a:t>
            </a:r>
            <a:r>
              <a:rPr lang="en-US" sz="1200" dirty="0">
                <a:solidFill>
                  <a:schemeClr val="accent2"/>
                </a:solidFill>
              </a:rPr>
              <a:t>, W., Watkins, A. M., Kim, D. S., </a:t>
            </a:r>
            <a:r>
              <a:rPr lang="en-US" sz="1200" dirty="0" err="1">
                <a:solidFill>
                  <a:schemeClr val="accent2"/>
                </a:solidFill>
              </a:rPr>
              <a:t>Tunguz</a:t>
            </a:r>
            <a:r>
              <a:rPr lang="en-US" sz="1200" dirty="0">
                <a:solidFill>
                  <a:schemeClr val="accent2"/>
                </a:solidFill>
              </a:rPr>
              <a:t>, B., Reade, W., ... &amp; Das, R. (2022). Deep learning models for predicting RNA degradation via dual crowdsourcing. Nature Machine Intelligence, 1-11.</a:t>
            </a:r>
          </a:p>
          <a:p>
            <a:endParaRPr lang="en-US" sz="1200" dirty="0">
              <a:solidFill>
                <a:schemeClr val="accent2"/>
              </a:solidFill>
            </a:endParaRPr>
          </a:p>
          <a:p>
            <a:r>
              <a:rPr lang="en-US" sz="1200" dirty="0">
                <a:solidFill>
                  <a:schemeClr val="accent2"/>
                </a:solidFill>
              </a:rPr>
              <a:t>4- Ing, S. H., Abdullah, A. A., Harun, N. H., &amp; </a:t>
            </a:r>
            <a:r>
              <a:rPr lang="en-US" sz="1200" dirty="0" err="1">
                <a:solidFill>
                  <a:schemeClr val="accent2"/>
                </a:solidFill>
              </a:rPr>
              <a:t>Kanaya</a:t>
            </a:r>
            <a:r>
              <a:rPr lang="en-US" sz="1200" dirty="0">
                <a:solidFill>
                  <a:schemeClr val="accent2"/>
                </a:solidFill>
              </a:rPr>
              <a:t>, S. (2021, August). COVID-19 mRNA Vaccine Degradation Prediction Using LR and LGBM Algorithms. In Journal of Physics: Conference Series (Vol. 1997, No. 1, p. 012005). IOP Publishing.</a:t>
            </a:r>
          </a:p>
          <a:p>
            <a:endParaRPr lang="en-US" sz="1200" dirty="0">
              <a:solidFill>
                <a:schemeClr val="accent2"/>
              </a:solidFill>
            </a:endParaRPr>
          </a:p>
          <a:p>
            <a:r>
              <a:rPr lang="en-US" sz="1200" dirty="0">
                <a:solidFill>
                  <a:schemeClr val="accent2"/>
                </a:solidFill>
              </a:rPr>
              <a:t>5- Qaid, T. S., </a:t>
            </a:r>
            <a:r>
              <a:rPr lang="en-US" sz="1200" dirty="0" err="1">
                <a:solidFill>
                  <a:schemeClr val="accent2"/>
                </a:solidFill>
              </a:rPr>
              <a:t>Mazaar</a:t>
            </a:r>
            <a:r>
              <a:rPr lang="en-US" sz="1200" dirty="0">
                <a:solidFill>
                  <a:schemeClr val="accent2"/>
                </a:solidFill>
              </a:rPr>
              <a:t>, H., </a:t>
            </a:r>
            <a:r>
              <a:rPr lang="en-US" sz="1200" dirty="0" err="1">
                <a:solidFill>
                  <a:schemeClr val="accent2"/>
                </a:solidFill>
              </a:rPr>
              <a:t>Alqahtani</a:t>
            </a:r>
            <a:r>
              <a:rPr lang="en-US" sz="1200" dirty="0">
                <a:solidFill>
                  <a:schemeClr val="accent2"/>
                </a:solidFill>
              </a:rPr>
              <a:t>, M. S., </a:t>
            </a:r>
            <a:r>
              <a:rPr lang="en-US" sz="1200" dirty="0" err="1">
                <a:solidFill>
                  <a:schemeClr val="accent2"/>
                </a:solidFill>
              </a:rPr>
              <a:t>Raweh</a:t>
            </a:r>
            <a:r>
              <a:rPr lang="en-US" sz="1200" dirty="0">
                <a:solidFill>
                  <a:schemeClr val="accent2"/>
                </a:solidFill>
              </a:rPr>
              <a:t>, A. A., &amp; </a:t>
            </a:r>
            <a:r>
              <a:rPr lang="en-US" sz="1200" dirty="0" err="1">
                <a:solidFill>
                  <a:schemeClr val="accent2"/>
                </a:solidFill>
              </a:rPr>
              <a:t>Alakwaa</a:t>
            </a:r>
            <a:r>
              <a:rPr lang="en-US" sz="1200" dirty="0">
                <a:solidFill>
                  <a:schemeClr val="accent2"/>
                </a:solidFill>
              </a:rPr>
              <a:t>, W. (2021). Deep sequence modelling for predicting COVID-19 mRNA vaccine degradation. </a:t>
            </a:r>
            <a:r>
              <a:rPr lang="en-US" sz="1200" dirty="0" err="1">
                <a:solidFill>
                  <a:schemeClr val="accent2"/>
                </a:solidFill>
              </a:rPr>
              <a:t>PeerJ</a:t>
            </a:r>
            <a:r>
              <a:rPr lang="en-US" sz="1200" dirty="0">
                <a:solidFill>
                  <a:schemeClr val="accent2"/>
                </a:solidFill>
              </a:rPr>
              <a:t> Computer Science, 7, e597.</a:t>
            </a:r>
          </a:p>
          <a:p>
            <a:endParaRPr lang="en-US" sz="1200" dirty="0">
              <a:solidFill>
                <a:schemeClr val="accent2"/>
              </a:solidFill>
            </a:endParaRPr>
          </a:p>
          <a:p>
            <a:r>
              <a:rPr lang="en-US" sz="1200" dirty="0">
                <a:solidFill>
                  <a:schemeClr val="accent2"/>
                </a:solidFill>
              </a:rPr>
              <a:t>6-https://www.analyticsvidhya.com/blog/2021/09/deep-learning-model-to-predict-mrna-degradation/ </a:t>
            </a:r>
          </a:p>
          <a:p>
            <a:endParaRPr lang="en-US" sz="1200" dirty="0">
              <a:solidFill>
                <a:schemeClr val="accent2"/>
              </a:solidFill>
            </a:endParaRPr>
          </a:p>
          <a:p>
            <a:r>
              <a:rPr lang="en-US" sz="1200" dirty="0">
                <a:solidFill>
                  <a:schemeClr val="accent2"/>
                </a:solidFill>
              </a:rPr>
              <a:t>7-https://www.nebraskamed.com/COVID/where-mrna-vaccines-and-spike-proteins-go</a:t>
            </a:r>
          </a:p>
        </p:txBody>
      </p:sp>
    </p:spTree>
    <p:extLst>
      <p:ext uri="{BB962C8B-B14F-4D97-AF65-F5344CB8AC3E}">
        <p14:creationId xmlns:p14="http://schemas.microsoft.com/office/powerpoint/2010/main" val="843514623"/>
      </p:ext>
    </p:extLst>
  </p:cSld>
  <p:clrMapOvr>
    <a:masterClrMapping/>
  </p:clrMapOvr>
</p:sld>
</file>

<file path=ppt/theme/theme1.xml><?xml version="1.0" encoding="utf-8"?>
<a:theme xmlns:a="http://schemas.openxmlformats.org/drawingml/2006/main" name="About DNA Day by Slidesgo">
  <a:themeElements>
    <a:clrScheme name="Simple Light">
      <a:dk1>
        <a:srgbClr val="240916"/>
      </a:dk1>
      <a:lt1>
        <a:srgbClr val="FFFFFF"/>
      </a:lt1>
      <a:dk2>
        <a:srgbClr val="2A165D"/>
      </a:dk2>
      <a:lt2>
        <a:srgbClr val="95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95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1065</Words>
  <Application>Microsoft Office PowerPoint</Application>
  <PresentationFormat>On-screen Show (16:9)</PresentationFormat>
  <Paragraphs>225</Paragraphs>
  <Slides>25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Montserrat Medium</vt:lpstr>
      <vt:lpstr>Lato Light</vt:lpstr>
      <vt:lpstr>Lato Black</vt:lpstr>
      <vt:lpstr>Montserrat</vt:lpstr>
      <vt:lpstr>zeitung</vt:lpstr>
      <vt:lpstr>Lato</vt:lpstr>
      <vt:lpstr>Amasis MT Pro Medium</vt:lpstr>
      <vt:lpstr>Arial</vt:lpstr>
      <vt:lpstr>Calibri</vt:lpstr>
      <vt:lpstr>About DNA Day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COVID-19 mRNA Vaccine Degradation</vt:lpstr>
      <vt:lpstr>Problem Statement</vt:lpstr>
      <vt:lpstr>categorical features</vt:lpstr>
      <vt:lpstr>Explain of Categorical fearures</vt:lpstr>
      <vt:lpstr>PowerPoint Presentation</vt:lpstr>
      <vt:lpstr>Numerical Features</vt:lpstr>
      <vt:lpstr>Target Features</vt:lpstr>
      <vt:lpstr>Click here for watching dashboard </vt:lpstr>
      <vt:lpstr>PowerPoint Presentation</vt:lpstr>
      <vt:lpstr>PowerPoint Presentation</vt:lpstr>
      <vt:lpstr>Hyperparameter Tuning</vt:lpstr>
      <vt:lpstr>The Best parameters for XGBRegressor</vt:lpstr>
      <vt:lpstr>Error Analysis </vt:lpstr>
      <vt:lpstr>PowerPoint Presentation</vt:lpstr>
      <vt:lpstr>PowerPoint Presentation</vt:lpstr>
      <vt:lpstr>PowerPoint Presentation</vt:lpstr>
      <vt:lpstr>PowerPoint Presentation</vt:lpstr>
      <vt:lpstr>Final Result</vt:lpstr>
      <vt:lpstr>Conclusion and Future Works</vt:lpstr>
      <vt:lpstr>Referances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COVID-19 mRNA Vaccine Degradation</dc:title>
  <dc:creator>MaenQawasmeh</dc:creator>
  <cp:lastModifiedBy>Maen qawasmeh</cp:lastModifiedBy>
  <cp:revision>16</cp:revision>
  <dcterms:modified xsi:type="dcterms:W3CDTF">2023-08-21T03:59:56Z</dcterms:modified>
</cp:coreProperties>
</file>